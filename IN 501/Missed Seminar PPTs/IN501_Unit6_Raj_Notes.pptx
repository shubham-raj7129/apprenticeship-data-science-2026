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019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12700">
            <a:solidFill>
              <a:srgbClr val="E5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121615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21615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828800"/>
            <a:ext cx="121615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2286000"/>
            <a:ext cx="121615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3200400"/>
            <a:ext cx="121615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3657600"/>
            <a:ext cx="121615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4572000"/>
            <a:ext cx="121615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5029200"/>
            <a:ext cx="121615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0" y="5943600"/>
            <a:ext cx="121615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71600" y="1280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IN501 — Unit 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17830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Modules, and Pandas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1371600" y="2880360"/>
            <a:ext cx="5943600" cy="411480"/>
          </a:xfrm>
          <a:prstGeom prst="rect">
            <a:avLst/>
          </a:prstGeom>
          <a:solidFill>
            <a:srgbClr val="FFF3A3">
              <a:alpha val="75000"/>
            </a:srgbClr>
          </a:solidFill>
          <a:ln w="12700">
            <a:solidFill>
              <a:srgbClr val="FFF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716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notes from this week's seminar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5303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as alternative seminar assignment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Computer Programming · Purdue Global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875520" y="146304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87552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7552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I'm covering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200400" cy="0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 I want to walk through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CSV file actually is, and why it's everywhere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3317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a module, a package, and a library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971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pandas reads a CSV into a DataFrame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6118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Selecting, filtering, sorting, and grouping rows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2519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datasets — concat, merge, and update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457200" cy="45720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892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up: missing values, type conversions, exporting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 rot="-60000">
            <a:off x="8686800" y="5486400"/>
            <a:ext cx="3017520" cy="1005840"/>
          </a:xfrm>
          <a:prstGeom prst="rect">
            <a:avLst/>
          </a:prstGeom>
          <a:solidFill>
            <a:srgbClr val="FFE082"/>
          </a:solidFill>
          <a:ln w="12700">
            <a:solidFill>
              <a:srgbClr val="FFE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 rot="-60000">
            <a:off x="8869680" y="5623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to self: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 rot="-60000">
            <a:off x="8869680" y="6035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5 and 6 are the most at important for 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CSV file?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200400" cy="0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Comma-Separated Values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CSV is just a plain text file. Each line is one row, and commas separate the columns. There's no formatting, no formulas — just raw data.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open a CSV in Notepad, TextEdit, or Excel — anything that reads text.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76656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file: beverages.csv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766560" y="2103120"/>
            <a:ext cx="4937760" cy="2743200"/>
          </a:xfrm>
          <a:prstGeom prst="rect">
            <a:avLst/>
          </a:prstGeom>
          <a:solidFill>
            <a:srgbClr val="F4F4F0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49440" y="224028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Product,Category,Price,UnitsSold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Latte,Hot,4.75,128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Cappuccino,Hot,4.50,96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Cold Brew,Cold,5.00,142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Espresso,Hot,3.25,74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Matcha,Specialty,5.50,61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care: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466344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from spreadsheets,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data between programs,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datasets I want to analyze in Python.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24712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vs. package vs. library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200400" cy="0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words I kept getting confused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703320" cy="548640"/>
          </a:xfrm>
          <a:prstGeom prst="rect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370332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.py file with code in it.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703320" cy="548640"/>
          </a:xfrm>
          <a:prstGeom prst="rect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16916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89120" y="2240280"/>
            <a:ext cx="370332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2331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modules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6974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containing several modules.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75320" y="1691640"/>
            <a:ext cx="3703320" cy="548640"/>
          </a:xfrm>
          <a:prstGeom prst="rect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75320" y="16916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75320" y="2240280"/>
            <a:ext cx="370332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58200" y="2331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packages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58200" y="26974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toolkit built around a topic.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2920" y="3840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pandas is a library — that's why I install it once and get a whole bunch of tools.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importing works in practice: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4846320"/>
            <a:ext cx="6858000" cy="1554480"/>
          </a:xfrm>
          <a:prstGeom prst="rect">
            <a:avLst/>
          </a:prstGeom>
          <a:solidFill>
            <a:srgbClr val="F4F4F0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498348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math_helpers.py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B2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add(a, b):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B2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b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98080" y="4846320"/>
            <a:ext cx="4206240" cy="1554480"/>
          </a:xfrm>
          <a:prstGeom prst="rect">
            <a:avLst/>
          </a:prstGeom>
          <a:solidFill>
            <a:srgbClr val="F4F4F0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680960" y="49834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main.py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B2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math_helpers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math_helpers.add(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pandas?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200400" cy="0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actually does for 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I've used Excel before, pandas is basically the same thing — except the table lives inside Python and I can change it with code instead of clicking around.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pandas lets me do: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315468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CSV and Excel files into a table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rows and sort by columns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columns from one type to another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averages, sums, counts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result back out to a file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data without leaving Python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rot="-60000">
            <a:off x="7498080" y="2743200"/>
            <a:ext cx="4206240" cy="3383280"/>
          </a:xfrm>
          <a:prstGeom prst="rect">
            <a:avLst/>
          </a:prstGeom>
          <a:solidFill>
            <a:srgbClr val="FFE082"/>
          </a:solidFill>
          <a:ln w="12700">
            <a:solidFill>
              <a:srgbClr val="FFE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 rot="-60000">
            <a:off x="7680960" y="2880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installed it (PyCharm)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 rot="-60000">
            <a:off x="7680960" y="3291840"/>
            <a:ext cx="3840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Settings → Python Interpreter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Click 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Search: pandas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Click Install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Waited for green check, then it worked.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24712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CSV with pandas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200400" cy="0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basically two lines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part that surprised me — I thought reading a file would be more work.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6400800" cy="2651760"/>
          </a:xfrm>
          <a:prstGeom prst="rect">
            <a:avLst/>
          </a:prstGeom>
          <a:solidFill>
            <a:srgbClr val="F4F4F0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B2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</a:t>
            </a:r>
            <a:r>
              <a:rPr lang="en-US" sz="1300" dirty="0">
                <a:solidFill>
                  <a:srgbClr val="7B2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 = pd.read_csv(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"beverages.csv"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print(menu)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40880" y="2606040"/>
            <a:ext cx="4663440" cy="2286000"/>
          </a:xfrm>
          <a:prstGeom prst="rect">
            <a:avLst/>
          </a:prstGeom>
          <a:solidFill>
            <a:srgbClr val="F4F4F0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23760" y="274320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   Category  Price  UnitsSold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Latte      Hot      4.75   128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Cappucc..  Hot      4.50   96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Cold Brew  Cold     5.00   142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Espresso   Hot      3.25   74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Matcha     Specia.. 5.50   61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I wrote down: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5440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is the standard alias — every tutorial uses it.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read_csv() returns a DataFrame (a table).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on the left are the index — pandas adds these automatically.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 DataFrame?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200400" cy="0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with rows, columns, and an index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457200" cy="384048"/>
          </a:xfrm>
          <a:prstGeom prst="rect">
            <a:avLst/>
          </a:prstGeom>
          <a:solidFill>
            <a:srgbClr val="1F3F60"/>
          </a:solidFill>
          <a:ln w="12700">
            <a:solidFill>
              <a:srgbClr val="1F3F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1828800"/>
            <a:ext cx="1371600" cy="384048"/>
          </a:xfrm>
          <a:prstGeom prst="rect">
            <a:avLst/>
          </a:prstGeom>
          <a:solidFill>
            <a:srgbClr val="1F3F60"/>
          </a:solidFill>
          <a:ln w="12700">
            <a:solidFill>
              <a:srgbClr val="1F3F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1720" y="1828800"/>
            <a:ext cx="1280160" cy="384048"/>
          </a:xfrm>
          <a:prstGeom prst="rect">
            <a:avLst/>
          </a:prstGeom>
          <a:solidFill>
            <a:srgbClr val="1F3F60"/>
          </a:solidFill>
          <a:ln w="12700">
            <a:solidFill>
              <a:srgbClr val="1F3F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31720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11880" y="1828800"/>
            <a:ext cx="914400" cy="384048"/>
          </a:xfrm>
          <a:prstGeom prst="rect">
            <a:avLst/>
          </a:prstGeom>
          <a:solidFill>
            <a:srgbClr val="1F3F60"/>
          </a:solidFill>
          <a:ln w="12700">
            <a:solidFill>
              <a:srgbClr val="1F3F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11880" y="18288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1828800"/>
            <a:ext cx="1280160" cy="384048"/>
          </a:xfrm>
          <a:prstGeom prst="rect">
            <a:avLst/>
          </a:prstGeom>
          <a:solidFill>
            <a:srgbClr val="1F3F60"/>
          </a:solidFill>
          <a:ln w="12700">
            <a:solidFill>
              <a:srgbClr val="1F3F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26280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UnitsSold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212848"/>
            <a:ext cx="45720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2128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0120" y="2212848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22128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31720" y="221284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31720" y="22128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11880" y="2212848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11880" y="22128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26280" y="221284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26280" y="22128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2596896"/>
            <a:ext cx="45720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25968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60120" y="2596896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60120" y="25968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Cappuccino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331720" y="259689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331720" y="25968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11880" y="2596896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11880" y="25968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26280" y="259689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26280" y="25968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2980944"/>
            <a:ext cx="45720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29809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60120" y="2980944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60120" y="298094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Brew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331720" y="2980944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331720" y="29809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11880" y="2980944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11880" y="29809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26280" y="2980944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526280" y="29809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02920" y="3364992"/>
            <a:ext cx="45720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02920" y="33649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60120" y="3364992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60120" y="33649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331720" y="336499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331720" y="33649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611880" y="3364992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611880" y="33649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3.25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526280" y="336499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526280" y="33649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02920" y="3749040"/>
            <a:ext cx="45720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02920" y="37490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60120" y="3749040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60120" y="3749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331720" y="3749040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331720" y="37490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3611880" y="3749040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611880" y="37490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5.50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4526280" y="3749040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526280" y="37490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77240" y="4434840"/>
            <a:ext cx="0" cy="457200"/>
          </a:xfrm>
          <a:prstGeom prst="line">
            <a:avLst/>
          </a:prstGeom>
          <a:noFill/>
          <a:ln w="19050">
            <a:solidFill>
              <a:srgbClr val="E573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914400" y="4846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the index (row labels)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219456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↓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9494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Grabbing pieces of it: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949440" y="2194560"/>
            <a:ext cx="4754880" cy="914400"/>
          </a:xfrm>
          <a:prstGeom prst="rect">
            <a:avLst/>
          </a:prstGeom>
          <a:solidFill>
            <a:srgbClr val="F4F4F0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7132320" y="23317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 column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menu[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6949440" y="3246120"/>
            <a:ext cx="4754880" cy="914400"/>
          </a:xfrm>
          <a:prstGeom prst="rect">
            <a:avLst/>
          </a:prstGeom>
          <a:solidFill>
            <a:srgbClr val="F4F4F0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7132320" y="33832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columns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menu[[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"Product"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6949440" y="4297680"/>
            <a:ext cx="4754880" cy="914400"/>
          </a:xfrm>
          <a:prstGeom prst="rect">
            <a:avLst/>
          </a:prstGeom>
          <a:solidFill>
            <a:srgbClr val="F4F4F0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7132320" y="44348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first 5 rows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menu.head()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6949440" y="53492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brackets → just that column.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brackets → smaller table.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1124712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things to ask a DataFrame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200400" cy="0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(no parens) and methods (with parens)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— info about the table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column names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(rows, columns)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df.dtypes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type of each column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df.size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total number of cells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749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df.index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row labels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— things it does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2396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first 5 rows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df.tail()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2396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last 5 rows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2396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column types &amp; null counts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82396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stats on numeric columns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df.sort_values()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82396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reorder by a column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82396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bucket and summarize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4572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df.to_csv()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82396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save back to a CSV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2920" y="5669280"/>
            <a:ext cx="6858000" cy="457200"/>
          </a:xfrm>
          <a:prstGeom prst="rect">
            <a:avLst/>
          </a:prstGeom>
          <a:solidFill>
            <a:srgbClr val="FFF3A3">
              <a:alpha val="75000"/>
            </a:srgbClr>
          </a:solidFill>
          <a:ln w="12700">
            <a:solidFill>
              <a:srgbClr val="FFF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there's no parentheses, I'm reading. If there are, I'm doing.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24712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an index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200400" cy="0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column as the row label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pandas labels rows 0, 1, 2, 3… But if my data has a natural unique key (a name, an ID, a date), I can promote it to be the index.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743200"/>
            <a:ext cx="7315200" cy="822960"/>
          </a:xfrm>
          <a:prstGeom prst="rect">
            <a:avLst/>
          </a:prstGeom>
          <a:solidFill>
            <a:srgbClr val="F4F4F0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 = menu.set_index(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"Product"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4114800"/>
            <a:ext cx="548640" cy="310896"/>
          </a:xfrm>
          <a:prstGeom prst="rect">
            <a:avLst/>
          </a:prstGeom>
          <a:solidFill>
            <a:srgbClr val="1F3F60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41148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51560" y="4114800"/>
            <a:ext cx="1463040" cy="310896"/>
          </a:xfrm>
          <a:prstGeom prst="rect">
            <a:avLst/>
          </a:prstGeom>
          <a:solidFill>
            <a:srgbClr val="1F3F60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1560" y="4114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14600" y="4114800"/>
            <a:ext cx="1097280" cy="310896"/>
          </a:xfrm>
          <a:prstGeom prst="rect">
            <a:avLst/>
          </a:prstGeom>
          <a:solidFill>
            <a:srgbClr val="1F3F60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14600" y="41148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54864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442569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51560" y="4425696"/>
            <a:ext cx="146304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51560" y="44256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14600" y="4425696"/>
            <a:ext cx="109728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14600" y="442569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736592"/>
            <a:ext cx="5486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473659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51560" y="4736592"/>
            <a:ext cx="14630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51560" y="47365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14600" y="4736592"/>
            <a:ext cx="109728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14600" y="47365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23360" y="4526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475488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4114800"/>
            <a:ext cx="1463040" cy="310896"/>
          </a:xfrm>
          <a:prstGeom prst="rect">
            <a:avLst/>
          </a:prstGeom>
          <a:solidFill>
            <a:srgbClr val="4CAF50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4114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114800"/>
            <a:ext cx="1097280" cy="310896"/>
          </a:xfrm>
          <a:prstGeom prst="rect">
            <a:avLst/>
          </a:prstGeom>
          <a:solidFill>
            <a:srgbClr val="4CAF50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17920" y="41148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4425696"/>
            <a:ext cx="146304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44256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4425696"/>
            <a:ext cx="109728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17920" y="442569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4736592"/>
            <a:ext cx="14630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54880" y="47365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4736592"/>
            <a:ext cx="109728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17920" y="47365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 rot="-60000">
            <a:off x="8229600" y="3200400"/>
            <a:ext cx="3474720" cy="2377440"/>
          </a:xfrm>
          <a:prstGeom prst="rect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 rot="-60000">
            <a:off x="8412480" y="3337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bother setting an index: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 rot="-60000">
            <a:off x="8412480" y="374904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the table easier to read, and merge() / update() use the index to line rows up.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24712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rows and columns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200400" cy="0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I can grab what I want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position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Python list slicing — start is included, end is not.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108960"/>
            <a:ext cx="3703320" cy="777240"/>
          </a:xfrm>
          <a:prstGeom prst="rect">
            <a:avLst/>
          </a:prstGeom>
          <a:solidFill>
            <a:srgbClr val="F4F4F0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menu.iloc[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column name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89120" y="21031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list of names in double brackets.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3108960"/>
            <a:ext cx="3703320" cy="777240"/>
          </a:xfrm>
          <a:prstGeom prst="rect">
            <a:avLst/>
          </a:prstGeom>
          <a:solidFill>
            <a:srgbClr val="F4F4F0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32461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menu[[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"Product"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753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condition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75320" y="21031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True/False expression and use it to filter.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75320" y="3108960"/>
            <a:ext cx="3703320" cy="777240"/>
          </a:xfrm>
          <a:prstGeom prst="rect">
            <a:avLst/>
          </a:prstGeom>
          <a:solidFill>
            <a:srgbClr val="F4F4F0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58200" y="32461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menu[menu[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 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251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want two conditions at once: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4663440"/>
            <a:ext cx="11201400" cy="1417320"/>
          </a:xfrm>
          <a:prstGeom prst="rect">
            <a:avLst/>
          </a:prstGeom>
          <a:solidFill>
            <a:srgbClr val="F4F4F0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4800600"/>
            <a:ext cx="10835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hot drinks priced over $4 — note the parentheses around each condition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menu[(menu[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"Category"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== 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"Hot"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&amp; (menu[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 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Watch out: it's &amp; and |, not 'and' / 'or'. I got that wrong twice.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by a column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200400" cy="0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sort_values()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is low-to-high. To flip it, pass ascending=False.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5669280" cy="822960"/>
          </a:xfrm>
          <a:prstGeom prst="rect">
            <a:avLst/>
          </a:prstGeom>
          <a:solidFill>
            <a:srgbClr val="F4F4F0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sorted_menu = menu.sort_values(by=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2240280"/>
            <a:ext cx="5349240" cy="822960"/>
          </a:xfrm>
          <a:prstGeom prst="rect">
            <a:avLst/>
          </a:prstGeom>
          <a:solidFill>
            <a:srgbClr val="F4F4F0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7960" y="237744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menu.sort_values(by=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ascending=</a:t>
            </a:r>
            <a:r>
              <a:rPr lang="en-US" sz="1300" dirty="0">
                <a:solidFill>
                  <a:srgbClr val="7B2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first: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2194560" cy="310896"/>
          </a:xfrm>
          <a:prstGeom prst="rect">
            <a:avLst/>
          </a:prstGeom>
          <a:solidFill>
            <a:srgbClr val="1F3F60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7490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97480" y="3749040"/>
            <a:ext cx="1371600" cy="310896"/>
          </a:xfrm>
          <a:prstGeom prst="rect">
            <a:avLst/>
          </a:prstGeom>
          <a:solidFill>
            <a:srgbClr val="1F3F60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97480" y="3749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059936"/>
            <a:ext cx="219456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40599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97480" y="4059936"/>
            <a:ext cx="137160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97480" y="40599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370832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43708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Cappuccino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97480" y="4370832"/>
            <a:ext cx="1371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697480" y="43708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681728"/>
            <a:ext cx="219456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46817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97480" y="4681728"/>
            <a:ext cx="137160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697480" y="46817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992624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499262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Brew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97480" y="4992624"/>
            <a:ext cx="1371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697480" y="49926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5303520"/>
            <a:ext cx="219456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5303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97480" y="5303520"/>
            <a:ext cx="137160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697480" y="53035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2628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expensive first: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26280" y="3749040"/>
            <a:ext cx="2194560" cy="310896"/>
          </a:xfrm>
          <a:prstGeom prst="rect">
            <a:avLst/>
          </a:prstGeom>
          <a:solidFill>
            <a:srgbClr val="1F3F60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26280" y="37490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20840" y="3749040"/>
            <a:ext cx="1371600" cy="310896"/>
          </a:xfrm>
          <a:prstGeom prst="rect">
            <a:avLst/>
          </a:prstGeom>
          <a:solidFill>
            <a:srgbClr val="1F3F60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720840" y="3749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26280" y="4059936"/>
            <a:ext cx="219456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26280" y="40599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20840" y="4059936"/>
            <a:ext cx="137160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720840" y="40599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26280" y="4370832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526280" y="43708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Brew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720840" y="4370832"/>
            <a:ext cx="1371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720840" y="43708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26280" y="4681728"/>
            <a:ext cx="219456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526280" y="46817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720840" y="4681728"/>
            <a:ext cx="137160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720840" y="46817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4.75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26280" y="4992624"/>
            <a:ext cx="21945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526280" y="499262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Cappuccino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720840" y="4992624"/>
            <a:ext cx="1371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720840" y="49926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4.50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26280" y="5303520"/>
            <a:ext cx="219456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526280" y="5303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720840" y="5303520"/>
            <a:ext cx="137160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720840" y="53035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3.25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 rot="-60000">
            <a:off x="8778240" y="3383280"/>
            <a:ext cx="2926080" cy="2286000"/>
          </a:xfrm>
          <a:prstGeom prst="rect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 rot="-60000">
            <a:off x="8961120" y="3520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me out: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 rot="-60000">
            <a:off x="8961120" y="3931920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sort_values returns a new DataFrame. The original menu still has the old order unless I assign back.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124712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with groupby()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200400" cy="0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the data, then summarize each bucket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 splits the table by the values in a column. By itself it does almost nothing visible — I always pair it with mean(), sum(), count(), etc.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→ Apply → Combine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788920"/>
            <a:ext cx="3931920" cy="411480"/>
          </a:xfrm>
          <a:prstGeom prst="rect">
            <a:avLst/>
          </a:prstGeom>
          <a:solidFill>
            <a:srgbClr val="FFF3A3">
              <a:alpha val="75000"/>
            </a:srgbClr>
          </a:solidFill>
          <a:ln w="12700">
            <a:solidFill>
              <a:srgbClr val="FFF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3337560"/>
            <a:ext cx="3383280" cy="1005840"/>
          </a:xfrm>
          <a:prstGeom prst="rect">
            <a:avLst/>
          </a:prstGeom>
          <a:solidFill>
            <a:srgbClr val="F5F7FA"/>
          </a:solidFill>
          <a:ln w="1905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3383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3840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Category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8862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343400" y="3337560"/>
            <a:ext cx="3383280" cy="1005840"/>
          </a:xfrm>
          <a:prstGeom prst="rect">
            <a:avLst/>
          </a:prstGeom>
          <a:solidFill>
            <a:srgbClr val="F5F7FA"/>
          </a:solidFill>
          <a:ln w="1905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43400" y="3383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43400" y="3840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mean() to each group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266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183880" y="3337560"/>
            <a:ext cx="3383280" cy="1005840"/>
          </a:xfrm>
          <a:prstGeom prst="rect">
            <a:avLst/>
          </a:prstGeom>
          <a:solidFill>
            <a:srgbClr val="F5F7FA"/>
          </a:solidFill>
          <a:ln w="1905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83880" y="3383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83880" y="3840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one summary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4663440"/>
            <a:ext cx="11201400" cy="1691640"/>
          </a:xfrm>
          <a:prstGeom prst="rect">
            <a:avLst/>
          </a:prstGeom>
          <a:solidFill>
            <a:srgbClr val="F4F4F0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4800600"/>
            <a:ext cx="10835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average price by category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menu.groupby(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"Category"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)[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].mean()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stats at once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menu.groupby(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"Category"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)[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].agg([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"mean"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"min"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"max"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datasets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200400" cy="0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tools, three different questions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part that took me the longest to get straight. Each method answers a different question: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1828800" cy="1097280"/>
          </a:xfrm>
          <a:prstGeom prst="rect">
            <a:avLst/>
          </a:prstGeom>
          <a:solidFill>
            <a:srgbClr val="1F3F60"/>
          </a:solidFill>
          <a:ln w="12700">
            <a:solidFill>
              <a:srgbClr val="1F3F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concat()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331720" y="2377440"/>
            <a:ext cx="937260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4600" y="2468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stack rows on top of each other?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14600" y="2880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tables vertically. No matching, no key — just append. Duplicates stay.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828800" cy="1097280"/>
          </a:xfrm>
          <a:prstGeom prst="rect">
            <a:avLst/>
          </a:prstGeom>
          <a:solidFill>
            <a:srgbClr val="1F3F60"/>
          </a:solidFill>
          <a:ln w="12700">
            <a:solidFill>
              <a:srgbClr val="1F3F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749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merge()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331720" y="3749040"/>
            <a:ext cx="937260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14600" y="3840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join tables on a shared key?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14600" y="4251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SQL join. Match rows where a column lines up, combine columns.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5120640"/>
            <a:ext cx="1828800" cy="1097280"/>
          </a:xfrm>
          <a:prstGeom prst="rect">
            <a:avLst/>
          </a:prstGeom>
          <a:solidFill>
            <a:srgbClr val="1F3F60"/>
          </a:solidFill>
          <a:ln w="12700">
            <a:solidFill>
              <a:srgbClr val="1F3F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5120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331720" y="5120640"/>
            <a:ext cx="937260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14600" y="5212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refresh values in an existing table?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14600" y="5623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 values in df1 using df2. Doesn't add new rows.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concat() — stacking rows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200400" cy="0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concat() is the simplest of the three. It glues two DataFrames end to end. It does not check for duplicates.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log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971800"/>
            <a:ext cx="1828800" cy="310896"/>
          </a:xfrm>
          <a:prstGeom prst="rect">
            <a:avLst/>
          </a:prstGeom>
          <a:solidFill>
            <a:srgbClr val="1F3F60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9718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2971800"/>
            <a:ext cx="1280160" cy="310896"/>
          </a:xfrm>
          <a:prstGeom prst="rect">
            <a:avLst/>
          </a:prstGeom>
          <a:solidFill>
            <a:srgbClr val="1F3F60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31720" y="29718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282696"/>
            <a:ext cx="182880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2826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31720" y="3282696"/>
            <a:ext cx="128016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31720" y="328269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593592"/>
            <a:ext cx="18288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5935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31720" y="3593592"/>
            <a:ext cx="12801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31720" y="35935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297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log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663440"/>
            <a:ext cx="1828800" cy="310896"/>
          </a:xfrm>
          <a:prstGeom prst="rect">
            <a:avLst/>
          </a:prstGeom>
          <a:solidFill>
            <a:srgbClr val="1F3F60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6634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31720" y="4663440"/>
            <a:ext cx="1280160" cy="310896"/>
          </a:xfrm>
          <a:prstGeom prst="rect">
            <a:avLst/>
          </a:prstGeom>
          <a:solidFill>
            <a:srgbClr val="1F3F60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31720" y="46634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974336"/>
            <a:ext cx="182880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9743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31720" y="4974336"/>
            <a:ext cx="128016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331720" y="497433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5285232"/>
            <a:ext cx="18288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52852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31720" y="5285232"/>
            <a:ext cx="12801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331720" y="52852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3192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484632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pd.concat([df1, df2]):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46320" y="2971800"/>
            <a:ext cx="1828800" cy="310896"/>
          </a:xfrm>
          <a:prstGeom prst="rect">
            <a:avLst/>
          </a:prstGeom>
          <a:solidFill>
            <a:srgbClr val="4CAF50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46320" y="29718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675120" y="2971800"/>
            <a:ext cx="1280160" cy="310896"/>
          </a:xfrm>
          <a:prstGeom prst="rect">
            <a:avLst/>
          </a:prstGeom>
          <a:solidFill>
            <a:srgbClr val="4CAF50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75120" y="29718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3282696"/>
            <a:ext cx="182880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46320" y="32826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75120" y="3282696"/>
            <a:ext cx="128016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675120" y="328269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4.75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46320" y="3593592"/>
            <a:ext cx="18288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46320" y="35935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675120" y="3593592"/>
            <a:ext cx="12801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675120" y="35935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3.25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46320" y="3904488"/>
            <a:ext cx="182880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46320" y="39044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75120" y="3904488"/>
            <a:ext cx="128016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675120" y="39044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3.50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46320" y="4215384"/>
            <a:ext cx="18288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46320" y="42153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675120" y="4215384"/>
            <a:ext cx="12801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675120" y="421538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5.50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4632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 shows up twice — concat doesn't deduplicate.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778240" y="2606040"/>
            <a:ext cx="2926080" cy="1463040"/>
          </a:xfrm>
          <a:prstGeom prst="rect">
            <a:avLst/>
          </a:prstGeom>
          <a:solidFill>
            <a:srgbClr val="F4F4F0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961120" y="27432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pd.concat(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[df1, df2]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124712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 — refreshing values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200400" cy="0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 overwrites values in df1 using values from df2, matched by index. It edits df1 in place. It does not add new rows.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prices (df1)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108960"/>
            <a:ext cx="1828800" cy="310896"/>
          </a:xfrm>
          <a:prstGeom prst="rect">
            <a:avLst/>
          </a:prstGeom>
          <a:solidFill>
            <a:srgbClr val="1F3F60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31089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3108960"/>
            <a:ext cx="1280160" cy="310896"/>
          </a:xfrm>
          <a:prstGeom prst="rect">
            <a:avLst/>
          </a:prstGeom>
          <a:solidFill>
            <a:srgbClr val="1F3F60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31720" y="31089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419856"/>
            <a:ext cx="182880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4198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31720" y="3419856"/>
            <a:ext cx="128016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31720" y="341985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730752"/>
            <a:ext cx="18288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7307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31720" y="3730752"/>
            <a:ext cx="12801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31720" y="373075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prices (df2)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06240" y="3108960"/>
            <a:ext cx="1828800" cy="310896"/>
          </a:xfrm>
          <a:prstGeom prst="rect">
            <a:avLst/>
          </a:prstGeom>
          <a:solidFill>
            <a:srgbClr val="1F3F60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06240" y="31089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3108960"/>
            <a:ext cx="1280160" cy="310896"/>
          </a:xfrm>
          <a:prstGeom prst="rect">
            <a:avLst/>
          </a:prstGeom>
          <a:solidFill>
            <a:srgbClr val="1F3F60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35040" y="31089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06240" y="3419856"/>
            <a:ext cx="182880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06240" y="34198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3419856"/>
            <a:ext cx="128016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35040" y="341985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06240" y="3730752"/>
            <a:ext cx="18288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06240" y="37307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3730752"/>
            <a:ext cx="12801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35040" y="373075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552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df1.update(df2):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955280" y="3108960"/>
            <a:ext cx="1828800" cy="310896"/>
          </a:xfrm>
          <a:prstGeom prst="rect">
            <a:avLst/>
          </a:prstGeom>
          <a:solidFill>
            <a:srgbClr val="4CAF50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955280" y="31089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784080" y="3108960"/>
            <a:ext cx="1280160" cy="310896"/>
          </a:xfrm>
          <a:prstGeom prst="rect">
            <a:avLst/>
          </a:prstGeom>
          <a:solidFill>
            <a:srgbClr val="4CAF50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784080" y="31089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955280" y="3419856"/>
            <a:ext cx="182880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955280" y="34198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784080" y="3419856"/>
            <a:ext cx="128016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784080" y="341985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955280" y="3730752"/>
            <a:ext cx="18288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955280" y="37307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784080" y="3730752"/>
            <a:ext cx="12801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784080" y="373075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2920" y="4937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noticed: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02920" y="53492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 changed from 3.25 → 3.50 ✓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 was in df2 but didn't get added — update() never grows the table.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124712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merge() — joining on a key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200400" cy="0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merge() pairs up rows wherever a chosen column matches. The how= argument decides which side's leftover rows survive — basically the same options as a SQL join.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"inner"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only rows that exist in both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"left"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 rows from left, NaN where missing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474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"right"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 rows from right, NaN where missing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"outer"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everything from both sides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6560" y="2697480"/>
            <a:ext cx="4937760" cy="1280160"/>
          </a:xfrm>
          <a:prstGeom prst="rect">
            <a:avLst/>
          </a:prstGeom>
          <a:solidFill>
            <a:srgbClr val="F4F4F0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49440" y="28346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merged = pd.merge(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df1, df2,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on=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"Product"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how=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"outer"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526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with how="outer":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892040"/>
            <a:ext cx="1554480" cy="310896"/>
          </a:xfrm>
          <a:prstGeom prst="rect">
            <a:avLst/>
          </a:prstGeom>
          <a:solidFill>
            <a:srgbClr val="4CAF50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48920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57400" y="4892040"/>
            <a:ext cx="1371600" cy="310896"/>
          </a:xfrm>
          <a:prstGeom prst="rect">
            <a:avLst/>
          </a:prstGeom>
          <a:solidFill>
            <a:srgbClr val="4CAF50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057400" y="4892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Price_x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4892040"/>
            <a:ext cx="1371600" cy="310896"/>
          </a:xfrm>
          <a:prstGeom prst="rect">
            <a:avLst/>
          </a:prstGeom>
          <a:solidFill>
            <a:srgbClr val="4CAF50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29000" y="4892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5202936"/>
            <a:ext cx="155448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520293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57400" y="5202936"/>
            <a:ext cx="137160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057400" y="52029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29000" y="5202936"/>
            <a:ext cx="137160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29000" y="52029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5513832"/>
            <a:ext cx="155448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55138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057400" y="5513832"/>
            <a:ext cx="1371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057400" y="55138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29000" y="5513832"/>
            <a:ext cx="1371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29000" y="55138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5824728"/>
            <a:ext cx="155448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" y="58247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057400" y="5824728"/>
            <a:ext cx="137160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057400" y="58247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429000" y="5824728"/>
            <a:ext cx="137160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429000" y="58247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 rot="-60000">
            <a:off x="6766560" y="4297680"/>
            <a:ext cx="4937760" cy="1828800"/>
          </a:xfrm>
          <a:prstGeom prst="rect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 rot="-60000">
            <a:off x="6949440" y="4434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needed: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 rot="-60000">
            <a:off x="6949440" y="484632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gives me Price_x and Price_y when both tables had a Price column. Next slide shows how I fixed it.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24712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up after a merge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200400" cy="0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combine_first()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merge I get Price_x and Price_y. I want one Price column where the new value wins, and the old value fills any NaN.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743200"/>
            <a:ext cx="11201400" cy="2194560"/>
          </a:xfrm>
          <a:prstGeom prst="rect">
            <a:avLst/>
          </a:prstGeom>
          <a:solidFill>
            <a:srgbClr val="F4F4F0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10835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prefer the new value, fall back to the old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merged[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merged[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"Price_y"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].combine_first(merged[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"Price_x"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keep just the columns I want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merged = merged[[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"Product"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5212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577840"/>
            <a:ext cx="1828800" cy="310896"/>
          </a:xfrm>
          <a:prstGeom prst="rect">
            <a:avLst/>
          </a:prstGeom>
          <a:solidFill>
            <a:srgbClr val="4CAF50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55778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31720" y="5577840"/>
            <a:ext cx="1280160" cy="310896"/>
          </a:xfrm>
          <a:prstGeom prst="rect">
            <a:avLst/>
          </a:prstGeom>
          <a:solidFill>
            <a:srgbClr val="4CAF50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31720" y="55778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5888736"/>
            <a:ext cx="182880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58887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31720" y="5888736"/>
            <a:ext cx="128016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31720" y="588873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6199632"/>
            <a:ext cx="18288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61996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31720" y="6199632"/>
            <a:ext cx="128016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331720" y="61996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6510528"/>
            <a:ext cx="182880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31720" y="6510528"/>
            <a:ext cx="1280160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331720" y="65105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Price column. Newest values win, old values fill the gaps.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(NaN)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200400" cy="0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them, dropping them, filling them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has gaps. Pandas marks every gap with NaN — "Not a Number."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Find missing values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5486400" cy="1371600"/>
          </a:xfrm>
          <a:prstGeom prst="rect">
            <a:avLst/>
          </a:prstGeom>
          <a:solidFill>
            <a:srgbClr val="F4F4F0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 wherever there's a gap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menu.isnull()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count by column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menu.isnull().sum()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Handle them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743200"/>
            <a:ext cx="5440680" cy="1371600"/>
          </a:xfrm>
          <a:prstGeom prst="rect">
            <a:avLst/>
          </a:prstGeom>
          <a:solidFill>
            <a:srgbClr val="F4F4F0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28803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menu.dropna()</a:t>
            </a:r>
            <a:r>
              <a:rPr lang="en-US" sz="13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# drop rows with NaN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menu.dropna(axis=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drop columns instead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menu.fillna(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fill gaps with 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4389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quirks I want to remember: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4846320"/>
            <a:ext cx="11201400" cy="365760"/>
          </a:xfrm>
          <a:prstGeom prst="rect">
            <a:avLst/>
          </a:prstGeom>
          <a:solidFill>
            <a:srgbClr val="FFF3A3">
              <a:alpha val="75000"/>
            </a:srgbClr>
          </a:solidFill>
          <a:ln w="12700">
            <a:solidFill>
              <a:srgbClr val="FFF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 treats NaN as 0 — so missing data quietly becomes zero.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5349240"/>
            <a:ext cx="11201400" cy="365760"/>
          </a:xfrm>
          <a:prstGeom prst="rect">
            <a:avLst/>
          </a:prstGeom>
          <a:solidFill>
            <a:srgbClr val="FFF3A3">
              <a:alpha val="75000"/>
            </a:srgbClr>
          </a:solidFill>
          <a:ln w="12700">
            <a:solidFill>
              <a:srgbClr val="FFF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 drops rows where the grouped column is NaN — they vanish from every group.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rot="-60000">
            <a:off x="8778240" y="5852160"/>
            <a:ext cx="2926080" cy="777240"/>
          </a:xfrm>
          <a:prstGeom prst="rect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 rot="-60000">
            <a:off x="8961120" y="5989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defaults are inconsistent — that bothered me.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24712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on columns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200400" cy="0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and type conversion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functions take many values and give back one.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2024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average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total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non-missing values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smallest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657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2024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largest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160520"/>
            <a:ext cx="5486400" cy="914400"/>
          </a:xfrm>
          <a:prstGeom prst="rect">
            <a:avLst/>
          </a:prstGeom>
          <a:solidFill>
            <a:srgbClr val="F4F4F0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42976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menu[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].mean()    </a:t>
            </a:r>
            <a:r>
              <a:rPr lang="en-US" sz="13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4.60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menu[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].max()     </a:t>
            </a:r>
            <a:r>
              <a:rPr lang="en-US" sz="13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5.50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691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a number reads in as text. Then I convert: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2194560"/>
            <a:ext cx="5440680" cy="1280160"/>
          </a:xfrm>
          <a:prstGeom prst="rect">
            <a:avLst/>
          </a:prstGeom>
          <a:solidFill>
            <a:srgbClr val="F4F4F0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46520" y="233172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menu[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menu[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].astype(</a:t>
            </a:r>
            <a:r>
              <a:rPr lang="en-US" sz="1300" dirty="0">
                <a:solidFill>
                  <a:srgbClr val="7B2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3703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→ int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69680" y="3703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astype(int)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6364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→ float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869680" y="4069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astype(float)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6364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→ number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869680" y="4434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pd.to_numeric()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63640" y="4800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→ str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869680" y="4800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F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astype(str)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back to a file: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" y="5760720"/>
            <a:ext cx="11201400" cy="777240"/>
          </a:xfrm>
          <a:prstGeom prst="rect">
            <a:avLst/>
          </a:prstGeom>
          <a:solidFill>
            <a:srgbClr val="F4F4F0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5800" y="589788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menu.to_csv(</a:t>
            </a:r>
            <a:r>
              <a:rPr lang="en-US" sz="1300" dirty="0">
                <a:solidFill>
                  <a:srgbClr val="1E6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"out.csv"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index=</a:t>
            </a:r>
            <a:r>
              <a:rPr lang="en-US" sz="1300" dirty="0">
                <a:solidFill>
                  <a:srgbClr val="7B2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</a:t>
            </a:r>
            <a:r>
              <a:rPr lang="en-US" sz="130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to_excel needs `pip install openpyxl` first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24712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clicked, what surprised 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200400" cy="0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Reflections on this unit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532120" cy="5029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clicked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5532120" cy="40233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5166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is just Excel that I drive with code.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that landed, every method made sense to me — head() is like clicking the top of a sheet, groupby() is like a pivot table, to_csv() is Save As.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Set-index → merge → combine_first.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struggled with merge until I realized I have to set the index first if I want my rows lined up the way I expect.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532120" cy="502920"/>
          </a:xfrm>
          <a:prstGeom prst="rect">
            <a:avLst/>
          </a:prstGeom>
          <a:solidFill>
            <a:srgbClr val="E57373"/>
          </a:solidFill>
          <a:ln w="12700">
            <a:solidFill>
              <a:srgbClr val="E573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72200" y="1691640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What surprised me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2194560"/>
            <a:ext cx="5532120" cy="40233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55080" y="2331720"/>
            <a:ext cx="5166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handling is inconsistent.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 treats NaN as zero, but groupby() silently drops rows with NaN keys. Both are reasonable, but it would be easy to miss a bug.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and |, not 'and' / 'or'.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tried to filter on two conditions I kept using the regular Python keywords — pandas wants the symbols, with parentheses around each piece.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I still have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200400" cy="0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I want to follow up 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640080" cy="64008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8288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I use merge() vs. join()?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2860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read that DataFrames also have a .join() method, apart from merge(). I'd like to explore further when each is the better choice.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246120"/>
            <a:ext cx="640080" cy="64008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3246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faster way than reading the whole file?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7033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CSV has millions of rows, does pandas have a way to read only the columns or rows I care about?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663440"/>
            <a:ext cx="640080" cy="640080"/>
          </a:xfrm>
          <a:prstGeom prst="ellipse">
            <a:avLst/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4663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plot a DataFrame?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51206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slide listed 'visualize datasets' as a feature. I think this connects to matplotlib — I want to learn that next.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I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200400" cy="0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that's the end of my notes!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official documentation — pandas.pydata.org/docs/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IN501 Unit 6 seminar slides and recording, Purdue Global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language reference — docs.python.org/3/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3840480"/>
            <a:ext cx="11155680" cy="0"/>
          </a:xfrm>
          <a:prstGeom prst="line">
            <a:avLst/>
          </a:prstGeom>
          <a:noFill/>
          <a:ln w="12700">
            <a:solidFill>
              <a:srgbClr val="D0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rot="-60000">
            <a:off x="1371600" y="4297680"/>
            <a:ext cx="9418320" cy="2011680"/>
          </a:xfrm>
          <a:prstGeom prst="rect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 rot="-60000">
            <a:off x="1554480" y="443484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thought: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 rot="-60000">
            <a:off x="1554480" y="4846320"/>
            <a:ext cx="9052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 the biggest thing I'm taking away from Unit 6 is that almost every interesting Python project I'll do later — NumPy, Keras, the rest of this course — assumes I can already get data into and out of a table. So, this is the unit that turns Python from a calculator into a tool for working with data.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2631</Words>
  <Application>Microsoft Macintosh PowerPoint</Application>
  <PresentationFormat>Widescreen</PresentationFormat>
  <Paragraphs>492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IN501 Unit 6 — My Notes on Files, Modules, and Pandas</dc:title>
  <dc:subject>PptxGenJS Presentation</dc:subject>
  <dc:creator>IN501 Student</dc:creator>
  <cp:lastModifiedBy>Shubham Raj</cp:lastModifiedBy>
  <cp:revision>2</cp:revision>
  <dcterms:created xsi:type="dcterms:W3CDTF">2026-05-01T15:22:37Z</dcterms:created>
  <dcterms:modified xsi:type="dcterms:W3CDTF">2026-05-01T15:30:31Z</dcterms:modified>
</cp:coreProperties>
</file>