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64"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3" d="100"/>
          <a:sy n="123" d="100"/>
        </p:scale>
        <p:origin x="166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Jin Ni" userId="f39136b5-1a88-44f4-a6c9-3c47fcb2f30e" providerId="ADAL" clId="{4195AFC3-D4E7-4988-88A0-2BD403A730CB}"/>
    <pc:docChg chg="custSel modSld">
      <pc:chgData name="Tyler Jin Ni" userId="f39136b5-1a88-44f4-a6c9-3c47fcb2f30e" providerId="ADAL" clId="{4195AFC3-D4E7-4988-88A0-2BD403A730CB}" dt="2026-06-03T01:52:47.806" v="0" actId="478"/>
      <pc:docMkLst>
        <pc:docMk/>
      </pc:docMkLst>
      <pc:sldChg chg="delSp mod">
        <pc:chgData name="Tyler Jin Ni" userId="f39136b5-1a88-44f4-a6c9-3c47fcb2f30e" providerId="ADAL" clId="{4195AFC3-D4E7-4988-88A0-2BD403A730CB}" dt="2026-06-03T01:52:47.806" v="0" actId="478"/>
        <pc:sldMkLst>
          <pc:docMk/>
          <pc:sldMk cId="1406066667" sldId="259"/>
        </pc:sldMkLst>
        <pc:spChg chg="del">
          <ac:chgData name="Tyler Jin Ni" userId="f39136b5-1a88-44f4-a6c9-3c47fcb2f30e" providerId="ADAL" clId="{4195AFC3-D4E7-4988-88A0-2BD403A730CB}" dt="2026-06-03T01:52:47.806" v="0" actId="478"/>
          <ac:spMkLst>
            <pc:docMk/>
            <pc:sldMk cId="1406066667" sldId="259"/>
            <ac:spMk id="3" creationId="{84B00F90-D8D3-A5DE-BD1E-009F8467D52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6437-07FB-1423-BCDE-B9957A3150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942844-2821-6F0F-A0B8-143E5327BE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D77D7D-DFCB-B568-3A27-5B7476CF0FEC}"/>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BBA9ED99-947C-311E-A956-69754A0E19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D1C9DB-7A8D-8218-1144-A5792089657B}"/>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267112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1826D-1665-C7B2-2224-233A055B14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2DF982-3C4C-732E-626D-AF90EC1BE6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B6E9E0-B7F7-361D-9337-F375C6EDED41}"/>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25704584-2F02-DAD9-B0B7-4F2560901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0C2E6E-983C-7219-0397-3CCB57BF9E2A}"/>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1014979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4EDD2-E716-FE7A-6E08-246CCCFE07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A73ED8-6EAC-6A91-26EC-552674198E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EF8177-7345-4F26-8A70-2D2EF4938A00}"/>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43198DC5-493D-45E9-14F9-2C8823A992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1FEC8A-D313-089C-950D-5F709ED47396}"/>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4088656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4DD16-F044-16C1-1D74-9C2773F81E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C0757-B429-E72B-CFC1-0E4AD6F346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E424B7-688F-5068-A3AB-188BC2DBF7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8BD280-3F03-B20D-1E92-284E4D6875E9}"/>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6" name="Footer Placeholder 5">
            <a:extLst>
              <a:ext uri="{FF2B5EF4-FFF2-40B4-BE49-F238E27FC236}">
                <a16:creationId xmlns:a16="http://schemas.microsoft.com/office/drawing/2014/main" id="{4F19B993-F0F0-1589-B3FE-99E6806040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54F975-9644-EF96-E15B-05C6FCD993DA}"/>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2777315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4C0C-E16E-6F67-49E5-0EDF7BBE98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93C148-1EB4-A97E-A4D3-87830F736B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B95A1A-12B5-4482-A502-BB6E6E9DFB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D48623-8113-A09B-109E-7C0C0BF28E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55C3B6-2EA5-3D40-6E7A-966BD66BC4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778762-C1ED-972B-248F-CBF1DA5E8477}"/>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8" name="Footer Placeholder 7">
            <a:extLst>
              <a:ext uri="{FF2B5EF4-FFF2-40B4-BE49-F238E27FC236}">
                <a16:creationId xmlns:a16="http://schemas.microsoft.com/office/drawing/2014/main" id="{CFC643A2-98F6-4420-B5AB-0D0CB6853B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50F3E-2E2B-B85E-D4EE-C0FC10FFE907}"/>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295180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2270-E2E7-1BC3-8F3D-B91AA6E401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A3334A-16A8-1504-C932-4B318314670B}"/>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4" name="Footer Placeholder 3">
            <a:extLst>
              <a:ext uri="{FF2B5EF4-FFF2-40B4-BE49-F238E27FC236}">
                <a16:creationId xmlns:a16="http://schemas.microsoft.com/office/drawing/2014/main" id="{C2BB8A5F-27AE-7F4B-0E2E-3C4BD5A1C7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C0627E-CB43-95BD-1D3D-12F042A52B17}"/>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3554175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6F4789-0FE8-8E70-7B7C-982FDB1BEBE3}"/>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3" name="Footer Placeholder 2">
            <a:extLst>
              <a:ext uri="{FF2B5EF4-FFF2-40B4-BE49-F238E27FC236}">
                <a16:creationId xmlns:a16="http://schemas.microsoft.com/office/drawing/2014/main" id="{60286C1C-2E7C-8D1B-7C56-254A20C8AB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7D574B-DE34-E2EE-8BAA-5C8791C9225A}"/>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4198232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19F1-BA6D-A6E3-DF2D-CBFD12BB41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A3AE18-4508-6A4E-724B-248C4CA1A9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1EE636-91F5-ED07-23FC-3B782F93B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D252CC-C68B-3947-1CBC-5DD6BA10FDE7}"/>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6" name="Footer Placeholder 5">
            <a:extLst>
              <a:ext uri="{FF2B5EF4-FFF2-40B4-BE49-F238E27FC236}">
                <a16:creationId xmlns:a16="http://schemas.microsoft.com/office/drawing/2014/main" id="{73948B10-D1E6-380B-CB79-64C984FAEE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665E9B-857D-D45A-FCA3-E100F12C3566}"/>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4153699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C5F9-90FF-C5C1-4349-98862C40FC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D654E4-76A7-38EF-A7C0-90DC966607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BFD323-51DE-4414-9B9B-C77BE39C51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51778F-3E87-E208-E7E2-BF98EFDDEDC6}"/>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6" name="Footer Placeholder 5">
            <a:extLst>
              <a:ext uri="{FF2B5EF4-FFF2-40B4-BE49-F238E27FC236}">
                <a16:creationId xmlns:a16="http://schemas.microsoft.com/office/drawing/2014/main" id="{70309334-7A87-DA2A-1BC5-BB18A34CEF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E1B58-5C6C-A361-D4C6-B6F7612DDCC5}"/>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1033266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7D32F-CE1F-0E6F-BBAF-81DE7F99F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3D5029-1699-A74A-09A6-0F6D99D081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86ABD4-D371-FC0E-7611-EE75FCF0B15E}"/>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AE3A03D5-77F7-A505-EB43-78606168E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C56F71-5BFF-9350-8255-CB20105BB9EE}"/>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3936133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0EC358-A6BA-1F0C-EAD7-A9FFE2C801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F38279-BB00-75AC-4E38-9675F36714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89B444-746D-D62B-A6B6-E59A9B63F717}"/>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93D87EF6-D562-72F0-2382-0F534F3C1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148E08-BEC8-54B4-F026-D88B02C16D50}"/>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3009747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6437-07FB-1423-BCDE-B9957A3150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942844-2821-6F0F-A0B8-143E5327BE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D77D7D-DFCB-B568-3A27-5B7476CF0FEC}"/>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BBA9ED99-947C-311E-A956-69754A0E19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D1C9DB-7A8D-8218-1144-A5792089657B}"/>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2671125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1826D-1665-C7B2-2224-233A055B14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2DF982-3C4C-732E-626D-AF90EC1BE6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B6E9E0-B7F7-361D-9337-F375C6EDED41}"/>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25704584-2F02-DAD9-B0B7-4F2560901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0C2E6E-983C-7219-0397-3CCB57BF9E2A}"/>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1014979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4EDD2-E716-FE7A-6E08-246CCCFE07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A73ED8-6EAC-6A91-26EC-552674198E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EF8177-7345-4F26-8A70-2D2EF4938A00}"/>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43198DC5-493D-45E9-14F9-2C8823A992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1FEC8A-D313-089C-950D-5F709ED47396}"/>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408865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4DD16-F044-16C1-1D74-9C2773F81E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C0757-B429-E72B-CFC1-0E4AD6F346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E424B7-688F-5068-A3AB-188BC2DBF7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8BD280-3F03-B20D-1E92-284E4D6875E9}"/>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6" name="Footer Placeholder 5">
            <a:extLst>
              <a:ext uri="{FF2B5EF4-FFF2-40B4-BE49-F238E27FC236}">
                <a16:creationId xmlns:a16="http://schemas.microsoft.com/office/drawing/2014/main" id="{4F19B993-F0F0-1589-B3FE-99E6806040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54F975-9644-EF96-E15B-05C6FCD993DA}"/>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27773153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4C0C-E16E-6F67-49E5-0EDF7BBE98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93C148-1EB4-A97E-A4D3-87830F736B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B95A1A-12B5-4482-A502-BB6E6E9DFB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D48623-8113-A09B-109E-7C0C0BF28E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55C3B6-2EA5-3D40-6E7A-966BD66BC4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778762-C1ED-972B-248F-CBF1DA5E8477}"/>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8" name="Footer Placeholder 7">
            <a:extLst>
              <a:ext uri="{FF2B5EF4-FFF2-40B4-BE49-F238E27FC236}">
                <a16:creationId xmlns:a16="http://schemas.microsoft.com/office/drawing/2014/main" id="{CFC643A2-98F6-4420-B5AB-0D0CB6853B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50F3E-2E2B-B85E-D4EE-C0FC10FFE907}"/>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29518071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2270-E2E7-1BC3-8F3D-B91AA6E401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A3334A-16A8-1504-C932-4B318314670B}"/>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4" name="Footer Placeholder 3">
            <a:extLst>
              <a:ext uri="{FF2B5EF4-FFF2-40B4-BE49-F238E27FC236}">
                <a16:creationId xmlns:a16="http://schemas.microsoft.com/office/drawing/2014/main" id="{C2BB8A5F-27AE-7F4B-0E2E-3C4BD5A1C7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C0627E-CB43-95BD-1D3D-12F042A52B17}"/>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35541757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6F4789-0FE8-8E70-7B7C-982FDB1BEBE3}"/>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3" name="Footer Placeholder 2">
            <a:extLst>
              <a:ext uri="{FF2B5EF4-FFF2-40B4-BE49-F238E27FC236}">
                <a16:creationId xmlns:a16="http://schemas.microsoft.com/office/drawing/2014/main" id="{60286C1C-2E7C-8D1B-7C56-254A20C8AB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7D574B-DE34-E2EE-8BAA-5C8791C9225A}"/>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41982327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19F1-BA6D-A6E3-DF2D-CBFD12BB41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A3AE18-4508-6A4E-724B-248C4CA1A9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1EE636-91F5-ED07-23FC-3B782F93B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D252CC-C68B-3947-1CBC-5DD6BA10FDE7}"/>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6" name="Footer Placeholder 5">
            <a:extLst>
              <a:ext uri="{FF2B5EF4-FFF2-40B4-BE49-F238E27FC236}">
                <a16:creationId xmlns:a16="http://schemas.microsoft.com/office/drawing/2014/main" id="{73948B10-D1E6-380B-CB79-64C984FAEE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665E9B-857D-D45A-FCA3-E100F12C3566}"/>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41536991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C5F9-90FF-C5C1-4349-98862C40FC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D654E4-76A7-38EF-A7C0-90DC966607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BFD323-51DE-4414-9B9B-C77BE39C51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51778F-3E87-E208-E7E2-BF98EFDDEDC6}"/>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6" name="Footer Placeholder 5">
            <a:extLst>
              <a:ext uri="{FF2B5EF4-FFF2-40B4-BE49-F238E27FC236}">
                <a16:creationId xmlns:a16="http://schemas.microsoft.com/office/drawing/2014/main" id="{70309334-7A87-DA2A-1BC5-BB18A34CEF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E1B58-5C6C-A361-D4C6-B6F7612DDCC5}"/>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10332663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7D32F-CE1F-0E6F-BBAF-81DE7F99F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3D5029-1699-A74A-09A6-0F6D99D081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86ABD4-D371-FC0E-7611-EE75FCF0B15E}"/>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AE3A03D5-77F7-A505-EB43-78606168E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C56F71-5BFF-9350-8255-CB20105BB9EE}"/>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3936133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0EC358-A6BA-1F0C-EAD7-A9FFE2C801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F38279-BB00-75AC-4E38-9675F36714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89B444-746D-D62B-A6B6-E59A9B63F717}"/>
              </a:ext>
            </a:extLst>
          </p:cNvPr>
          <p:cNvSpPr>
            <a:spLocks noGrp="1"/>
          </p:cNvSpPr>
          <p:nvPr>
            <p:ph type="dt" sz="half" idx="10"/>
          </p:nvPr>
        </p:nvSpPr>
        <p:spPr/>
        <p:txBody>
          <a:body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93D87EF6-D562-72F0-2382-0F534F3C1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148E08-BEC8-54B4-F026-D88B02C16D50}"/>
              </a:ext>
            </a:extLst>
          </p:cNvPr>
          <p:cNvSpPr>
            <a:spLocks noGrp="1"/>
          </p:cNvSpPr>
          <p:nvPr>
            <p:ph type="sldNum" sz="quarter" idx="12"/>
          </p:nvPr>
        </p:nvSpPr>
        <p:spPr/>
        <p:txBody>
          <a:bodyPr/>
          <a:lstStyle/>
          <a:p>
            <a:fld id="{EAC2DBA0-878F-4DB8-8F0D-040844A5E929}" type="slidenum">
              <a:rPr lang="en-US" smtClean="0"/>
              <a:t>‹#›</a:t>
            </a:fld>
            <a:endParaRPr lang="en-US"/>
          </a:p>
        </p:txBody>
      </p:sp>
    </p:spTree>
    <p:extLst>
      <p:ext uri="{BB962C8B-B14F-4D97-AF65-F5344CB8AC3E}">
        <p14:creationId xmlns:p14="http://schemas.microsoft.com/office/powerpoint/2010/main" val="3009747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E3ECEA-9652-B79A-2498-01CDCA0F0D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614364-5A7F-1BBB-0227-84C3E98403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5130C2-D6C3-DB64-DAA5-51EC535F55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66EC3620-AB37-A14D-F718-86E0EAA592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BC7DE1-C4F7-BD58-EAE7-3F274D6E88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C2DBA0-878F-4DB8-8F0D-040844A5E929}" type="slidenum">
              <a:rPr lang="en-US" smtClean="0"/>
              <a:t>‹#›</a:t>
            </a:fld>
            <a:endParaRPr lang="en-US"/>
          </a:p>
        </p:txBody>
      </p:sp>
    </p:spTree>
    <p:extLst>
      <p:ext uri="{BB962C8B-B14F-4D97-AF65-F5344CB8AC3E}">
        <p14:creationId xmlns:p14="http://schemas.microsoft.com/office/powerpoint/2010/main" val="1136745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E3ECEA-9652-B79A-2498-01CDCA0F0D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614364-5A7F-1BBB-0227-84C3E98403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5130C2-D6C3-DB64-DAA5-51EC535F55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2790F8-2213-46E8-AE77-8A8AE77880C0}" type="datetimeFigureOut">
              <a:rPr lang="en-US" smtClean="0"/>
              <a:t>02-Jun-26</a:t>
            </a:fld>
            <a:endParaRPr lang="en-US"/>
          </a:p>
        </p:txBody>
      </p:sp>
      <p:sp>
        <p:nvSpPr>
          <p:cNvPr id="5" name="Footer Placeholder 4">
            <a:extLst>
              <a:ext uri="{FF2B5EF4-FFF2-40B4-BE49-F238E27FC236}">
                <a16:creationId xmlns:a16="http://schemas.microsoft.com/office/drawing/2014/main" id="{66EC3620-AB37-A14D-F718-86E0EAA592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BC7DE1-C4F7-BD58-EAE7-3F274D6E88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C2DBA0-878F-4DB8-8F0D-040844A5E929}" type="slidenum">
              <a:rPr lang="en-US" smtClean="0"/>
              <a:t>‹#›</a:t>
            </a:fld>
            <a:endParaRPr lang="en-US"/>
          </a:p>
        </p:txBody>
      </p:sp>
    </p:spTree>
    <p:extLst>
      <p:ext uri="{BB962C8B-B14F-4D97-AF65-F5344CB8AC3E}">
        <p14:creationId xmlns:p14="http://schemas.microsoft.com/office/powerpoint/2010/main" val="11367455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1DEB0E-2641-69EF-10B4-2E9E501326B5}"/>
              </a:ext>
            </a:extLst>
          </p:cNvPr>
          <p:cNvSpPr>
            <a:spLocks noGrp="1"/>
          </p:cNvSpPr>
          <p:nvPr>
            <p:ph type="ctrTitle"/>
          </p:nvPr>
        </p:nvSpPr>
        <p:spPr>
          <a:xfrm>
            <a:off x="4162567" y="818984"/>
            <a:ext cx="6714699" cy="3178689"/>
          </a:xfrm>
        </p:spPr>
        <p:txBody>
          <a:bodyPr>
            <a:normAutofit/>
          </a:bodyPr>
          <a:lstStyle/>
          <a:p>
            <a:pPr algn="l"/>
            <a:r>
              <a:rPr lang="en-US" sz="4800" dirty="0">
                <a:solidFill>
                  <a:srgbClr val="FFFFFF"/>
                </a:solidFill>
              </a:rPr>
              <a:t>Group 7 – </a:t>
            </a:r>
            <a:br>
              <a:rPr lang="en-US" sz="4800" dirty="0">
                <a:solidFill>
                  <a:srgbClr val="FFFFFF"/>
                </a:solidFill>
              </a:rPr>
            </a:br>
            <a:r>
              <a:rPr lang="en-US" sz="4800" dirty="0">
                <a:solidFill>
                  <a:srgbClr val="FFFFFF"/>
                </a:solidFill>
              </a:rPr>
              <a:t>Unit 9 Assignment</a:t>
            </a:r>
          </a:p>
        </p:txBody>
      </p:sp>
      <p:sp>
        <p:nvSpPr>
          <p:cNvPr id="28" name="Rectangle 2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C148BEE5-5AF2-6D6B-357E-99B54D495E9B}"/>
              </a:ext>
            </a:extLst>
          </p:cNvPr>
          <p:cNvSpPr>
            <a:spLocks noGrp="1"/>
          </p:cNvSpPr>
          <p:nvPr>
            <p:ph type="subTitle" idx="1"/>
          </p:nvPr>
        </p:nvSpPr>
        <p:spPr>
          <a:xfrm>
            <a:off x="4285397" y="4960961"/>
            <a:ext cx="7055893" cy="1078054"/>
          </a:xfrm>
        </p:spPr>
        <p:txBody>
          <a:bodyPr>
            <a:normAutofit/>
          </a:bodyPr>
          <a:lstStyle/>
          <a:p>
            <a:pPr algn="l"/>
            <a:r>
              <a:rPr lang="en-US" sz="1700" dirty="0">
                <a:solidFill>
                  <a:srgbClr val="FFFFFF"/>
                </a:solidFill>
              </a:rPr>
              <a:t>CNN Model 
Jin Hai Ni  •  Sean O'Connor White  •  Steven Outlaw  •  Shubham Raj</a:t>
            </a:r>
          </a:p>
        </p:txBody>
      </p:sp>
    </p:spTree>
    <p:extLst>
      <p:ext uri="{BB962C8B-B14F-4D97-AF65-F5344CB8AC3E}">
        <p14:creationId xmlns:p14="http://schemas.microsoft.com/office/powerpoint/2010/main" val="3341419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6B51D5-6D1A-EAAE-F242-29F902CE94DB}"/>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Baseline CNN Model</a:t>
            </a:r>
          </a:p>
        </p:txBody>
      </p:sp>
      <p:sp>
        <p:nvSpPr>
          <p:cNvPr id="3" name="Content Placeholder 2">
            <a:extLst>
              <a:ext uri="{FF2B5EF4-FFF2-40B4-BE49-F238E27FC236}">
                <a16:creationId xmlns:a16="http://schemas.microsoft.com/office/drawing/2014/main" id="{122E5815-F833-56AB-89E6-AABF3A0D138C}"/>
              </a:ext>
            </a:extLst>
          </p:cNvPr>
          <p:cNvSpPr>
            <a:spLocks noGrp="1"/>
          </p:cNvSpPr>
          <p:nvPr>
            <p:ph idx="1"/>
          </p:nvPr>
        </p:nvSpPr>
        <p:spPr>
          <a:xfrm>
            <a:off x="685799" y="2213422"/>
            <a:ext cx="5219701" cy="3683358"/>
          </a:xfrm>
        </p:spPr>
        <p:txBody>
          <a:bodyPr anchor="t">
            <a:normAutofit/>
          </a:bodyPr>
          <a:lstStyle/>
          <a:p>
            <a:pPr marL="0" indent="0">
              <a:buNone/>
            </a:pPr>
            <a:r>
              <a:rPr lang="en-US" sz="1400" dirty="0" err="1">
                <a:latin typeface="Consolas"/>
              </a:rPr>
              <a:t>models.Sequential</a:t>
            </a:r>
            <a:r>
              <a:rPr lang="en-US" sz="1400" dirty="0">
                <a:latin typeface="Consolas"/>
              </a:rPr>
              <a:t>([</a:t>
            </a:r>
          </a:p>
          <a:p>
            <a:pPr marL="228600" indent="0">
              <a:buNone/>
            </a:pPr>
            <a:r>
              <a:rPr lang="en-US" sz="1400" dirty="0">
                <a:latin typeface="Consolas"/>
              </a:rPr>
              <a:t>Input(shape=(28, 28, 1)),</a:t>
            </a:r>
          </a:p>
          <a:p>
            <a:pPr marL="228600" indent="0">
              <a:buNone/>
            </a:pPr>
            <a:r>
              <a:rPr lang="en-US" sz="1400" dirty="0">
                <a:latin typeface="Consolas"/>
              </a:rPr>
              <a:t>layers.Conv2D(32, (3, 3), activation='relu'),</a:t>
            </a:r>
          </a:p>
          <a:p>
            <a:pPr marL="228600" indent="0">
              <a:buNone/>
            </a:pPr>
            <a:r>
              <a:rPr lang="en-US" sz="1400" dirty="0">
                <a:latin typeface="Consolas"/>
              </a:rPr>
              <a:t>layers.MaxPooling2D((2, 2)),</a:t>
            </a:r>
          </a:p>
          <a:p>
            <a:pPr marL="228600" indent="0">
              <a:buNone/>
            </a:pPr>
            <a:r>
              <a:rPr lang="en-US" sz="1400" dirty="0">
                <a:latin typeface="Consolas"/>
              </a:rPr>
              <a:t>layers.Conv2D(64, (3, 3), activation='relu'),</a:t>
            </a:r>
          </a:p>
          <a:p>
            <a:pPr marL="228600" indent="0">
              <a:buNone/>
            </a:pPr>
            <a:r>
              <a:rPr lang="en-US" sz="1400" dirty="0">
                <a:latin typeface="Consolas"/>
              </a:rPr>
              <a:t>layers.MaxPooling2D((2, 2)),</a:t>
            </a:r>
          </a:p>
          <a:p>
            <a:pPr marL="228600" indent="0">
              <a:buNone/>
            </a:pPr>
            <a:r>
              <a:rPr lang="en-US" sz="1400" dirty="0">
                <a:latin typeface="Consolas"/>
              </a:rPr>
              <a:t>layers.Conv2D(64, (3, 3), activation='relu'),</a:t>
            </a:r>
          </a:p>
          <a:p>
            <a:pPr marL="228600" indent="0">
              <a:buNone/>
            </a:pPr>
            <a:r>
              <a:rPr lang="en-US" sz="1400" dirty="0">
                <a:latin typeface="Consolas"/>
              </a:rPr>
              <a:t>layers.Flatten(),</a:t>
            </a:r>
          </a:p>
          <a:p>
            <a:pPr marL="228600" indent="0">
              <a:buNone/>
            </a:pPr>
            <a:r>
              <a:rPr lang="en-US" sz="1400" dirty="0">
                <a:latin typeface="Consolas"/>
              </a:rPr>
              <a:t>layers.Dense(64, activation='relu'),</a:t>
            </a:r>
          </a:p>
          <a:p>
            <a:pPr marL="228600" indent="0">
              <a:buNone/>
            </a:pPr>
            <a:r>
              <a:rPr lang="en-US" sz="1400" dirty="0">
                <a:latin typeface="Consolas"/>
              </a:rPr>
              <a:t>layers.Dense(10, activation='softmax')</a:t>
            </a:r>
          </a:p>
          <a:p>
            <a:pPr marL="0" indent="0">
              <a:buNone/>
            </a:pPr>
            <a:r>
              <a:rPr lang="en-US" sz="1400" dirty="0">
                <a:latin typeface="Consolas"/>
              </a:rPr>
              <a:t>])</a:t>
            </a:r>
          </a:p>
        </p:txBody>
      </p:sp>
      <p:sp>
        <p:nvSpPr>
          <p:cNvPr id="4" name="Content Placeholder 2">
            <a:extLst>
              <a:ext uri="{FF2B5EF4-FFF2-40B4-BE49-F238E27FC236}">
                <a16:creationId xmlns:a16="http://schemas.microsoft.com/office/drawing/2014/main" id="{B9621553-A96C-1819-8534-9ED679835ACF}"/>
              </a:ext>
            </a:extLst>
          </p:cNvPr>
          <p:cNvSpPr txBox="1">
            <a:spLocks/>
          </p:cNvSpPr>
          <p:nvPr/>
        </p:nvSpPr>
        <p:spPr>
          <a:xfrm>
            <a:off x="6095998" y="2213422"/>
            <a:ext cx="5219701" cy="368335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err="1">
                <a:latin typeface="Consolas"/>
              </a:rPr>
              <a:t>model.fit</a:t>
            </a:r>
            <a:r>
              <a:rPr lang="en-US" sz="1400" dirty="0">
                <a:latin typeface="Consolas"/>
              </a:rPr>
              <a:t>(</a:t>
            </a:r>
          </a:p>
          <a:p>
            <a:pPr marL="0" indent="0">
              <a:buFont typeface="Arial" panose="020B0604020202020204" pitchFamily="34" charset="0"/>
              <a:buNone/>
            </a:pPr>
            <a:r>
              <a:rPr lang="en-US" sz="1400" dirty="0">
                <a:latin typeface="Consolas"/>
              </a:rPr>
              <a:t>    </a:t>
            </a:r>
            <a:r>
              <a:rPr lang="en-US" sz="1400" dirty="0" err="1">
                <a:latin typeface="Consolas"/>
              </a:rPr>
              <a:t>x_train</a:t>
            </a:r>
            <a:r>
              <a:rPr lang="en-US" sz="1400" dirty="0">
                <a:latin typeface="Consolas"/>
              </a:rPr>
              <a:t>, </a:t>
            </a:r>
            <a:r>
              <a:rPr lang="en-US" sz="1400" dirty="0" err="1">
                <a:latin typeface="Consolas"/>
              </a:rPr>
              <a:t>y_train</a:t>
            </a:r>
            <a:r>
              <a:rPr lang="en-US" sz="1400" dirty="0">
                <a:latin typeface="Consolas"/>
              </a:rPr>
              <a:t>,</a:t>
            </a:r>
          </a:p>
          <a:p>
            <a:pPr marL="0" indent="0">
              <a:buFont typeface="Arial" panose="020B0604020202020204" pitchFamily="34" charset="0"/>
              <a:buNone/>
            </a:pPr>
            <a:r>
              <a:rPr lang="en-US" sz="1400" dirty="0">
                <a:latin typeface="Consolas"/>
              </a:rPr>
              <a:t>    epochs=5,</a:t>
            </a:r>
          </a:p>
          <a:p>
            <a:pPr marL="0" indent="0">
              <a:buFont typeface="Arial" panose="020B0604020202020204" pitchFamily="34" charset="0"/>
              <a:buNone/>
            </a:pPr>
            <a:r>
              <a:rPr lang="en-US" sz="1400" dirty="0">
                <a:latin typeface="Consolas"/>
              </a:rPr>
              <a:t>    </a:t>
            </a:r>
            <a:r>
              <a:rPr lang="en-US" sz="1400" dirty="0" err="1">
                <a:latin typeface="Consolas"/>
              </a:rPr>
              <a:t>batch_size</a:t>
            </a:r>
            <a:r>
              <a:rPr lang="en-US" sz="1400" dirty="0">
                <a:latin typeface="Consolas"/>
              </a:rPr>
              <a:t>=64,</a:t>
            </a:r>
          </a:p>
          <a:p>
            <a:pPr marL="0" indent="0">
              <a:buFont typeface="Arial" panose="020B0604020202020204" pitchFamily="34" charset="0"/>
              <a:buNone/>
            </a:pPr>
            <a:r>
              <a:rPr lang="en-US" sz="1400" dirty="0">
                <a:latin typeface="Consolas"/>
              </a:rPr>
              <a:t>    </a:t>
            </a:r>
            <a:r>
              <a:rPr lang="en-US" sz="1400" dirty="0" err="1">
                <a:latin typeface="Consolas"/>
              </a:rPr>
              <a:t>validation_split</a:t>
            </a:r>
            <a:r>
              <a:rPr lang="en-US" sz="1400" dirty="0">
                <a:latin typeface="Consolas"/>
              </a:rPr>
              <a:t>=0.1,</a:t>
            </a:r>
          </a:p>
          <a:p>
            <a:pPr marL="0" indent="0">
              <a:buFont typeface="Arial" panose="020B0604020202020204" pitchFamily="34" charset="0"/>
              <a:buNone/>
            </a:pPr>
            <a:r>
              <a:rPr lang="en-US" sz="1400" dirty="0">
                <a:latin typeface="Consolas"/>
              </a:rPr>
              <a:t>    verbose=2</a:t>
            </a:r>
          </a:p>
        </p:txBody>
      </p:sp>
    </p:spTree>
    <p:extLst>
      <p:ext uri="{BB962C8B-B14F-4D97-AF65-F5344CB8AC3E}">
        <p14:creationId xmlns:p14="http://schemas.microsoft.com/office/powerpoint/2010/main" val="276314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0E23E3-173F-2E53-0103-761573157C2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Variation 1 — Jin Hai Ni</a:t>
            </a:r>
          </a:p>
        </p:txBody>
      </p:sp>
      <p:sp>
        <p:nvSpPr>
          <p:cNvPr id="3" name="Content Placeholder 2">
            <a:extLst>
              <a:ext uri="{FF2B5EF4-FFF2-40B4-BE49-F238E27FC236}">
                <a16:creationId xmlns:a16="http://schemas.microsoft.com/office/drawing/2014/main" id="{5B107ABA-573C-5E71-0EC0-802AD06364E9}"/>
              </a:ext>
            </a:extLst>
          </p:cNvPr>
          <p:cNvSpPr>
            <a:spLocks noGrp="1"/>
          </p:cNvSpPr>
          <p:nvPr>
            <p:ph idx="1"/>
          </p:nvPr>
        </p:nvSpPr>
        <p:spPr>
          <a:xfrm>
            <a:off x="571501" y="1737360"/>
            <a:ext cx="10696050" cy="4826101"/>
          </a:xfrm>
        </p:spPr>
        <p:txBody>
          <a:bodyPr anchor="t">
            <a:normAutofit/>
          </a:bodyPr>
          <a:lstStyle/>
          <a:p>
            <a:r>
              <a:rPr lang="en-US" sz="1700" dirty="0"/>
              <a:t>Change </a:t>
            </a:r>
            <a:r>
              <a:rPr lang="en-US" sz="1700" b="1" dirty="0"/>
              <a:t>epoch</a:t>
            </a:r>
            <a:r>
              <a:rPr lang="en-US" sz="1700" dirty="0"/>
              <a:t> from 5 to 10 
Hypothesis</a:t>
            </a:r>
          </a:p>
          <a:p>
            <a:pPr lvl="1"/>
            <a:r>
              <a:rPr lang="en-US" sz="1300" dirty="0"/>
              <a:t>Increasing epochs from 5 to 10 should improve accuracy because the model gets more chances to refine its weights. However, test accuracy will likely plateau and may even drop slightly due to overfitting — the model starts memorizing training images instead of learning general digit shapes. Training time will roughly double.</a:t>
            </a:r>
          </a:p>
          <a:p>
            <a:r>
              <a:rPr lang="en-US" sz="1700" dirty="0"/>
              <a:t>Test Results</a:t>
            </a:r>
          </a:p>
          <a:p>
            <a:pPr lvl="1"/>
            <a:r>
              <a:rPr lang="en-US" sz="1400" b="1" dirty="0"/>
              <a:t>Epoch = 5</a:t>
            </a:r>
          </a:p>
          <a:p>
            <a:pPr lvl="1"/>
            <a:r>
              <a:rPr lang="en-US" sz="1300" dirty="0"/>
              <a:t>Training accuracy =  99.30% </a:t>
            </a:r>
          </a:p>
          <a:p>
            <a:pPr lvl="1"/>
            <a:r>
              <a:rPr lang="en-US" sz="1300" dirty="0"/>
              <a:t>Training Loss = 0.0221</a:t>
            </a:r>
          </a:p>
          <a:p>
            <a:pPr lvl="1"/>
            <a:r>
              <a:rPr lang="en-US" sz="1300" dirty="0"/>
              <a:t>Test accuracy = 98.72 %   </a:t>
            </a:r>
          </a:p>
          <a:p>
            <a:pPr lvl="1"/>
            <a:r>
              <a:rPr lang="en-US" sz="1300" dirty="0"/>
              <a:t>Test Loss = 0.0402</a:t>
            </a:r>
          </a:p>
          <a:p>
            <a:pPr lvl="1"/>
            <a:r>
              <a:rPr lang="en-US" sz="1300" dirty="0"/>
              <a:t>Runtime = 165 sec
</a:t>
            </a:r>
            <a:r>
              <a:rPr lang="en-US" sz="1400" b="1" dirty="0"/>
              <a:t>Epoch = 10</a:t>
            </a:r>
          </a:p>
          <a:p>
            <a:pPr lvl="1"/>
            <a:r>
              <a:rPr lang="en-US" sz="1400" dirty="0"/>
              <a:t>Training accuracy = 99.62% </a:t>
            </a:r>
          </a:p>
          <a:p>
            <a:pPr lvl="1"/>
            <a:r>
              <a:rPr lang="en-US" sz="1400" dirty="0"/>
              <a:t>Training Loss = 0.0117</a:t>
            </a:r>
          </a:p>
          <a:p>
            <a:pPr lvl="1"/>
            <a:r>
              <a:rPr lang="en-US" sz="1400" dirty="0"/>
              <a:t>Test accuracy = 99.09%   </a:t>
            </a:r>
          </a:p>
          <a:p>
            <a:pPr lvl="1"/>
            <a:r>
              <a:rPr lang="en-US" sz="1400" dirty="0"/>
              <a:t>Test Loss = 0.0333</a:t>
            </a:r>
          </a:p>
          <a:p>
            <a:pPr lvl="1"/>
            <a:r>
              <a:rPr lang="en-US" sz="1400" dirty="0"/>
              <a:t>Runtime = 229 sec</a:t>
            </a:r>
            <a:endParaRPr lang="en-US" sz="1400" b="1" dirty="0"/>
          </a:p>
        </p:txBody>
      </p:sp>
    </p:spTree>
    <p:extLst>
      <p:ext uri="{BB962C8B-B14F-4D97-AF65-F5344CB8AC3E}">
        <p14:creationId xmlns:p14="http://schemas.microsoft.com/office/powerpoint/2010/main" val="3113852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1FF0ED-8F1D-8E10-66E4-AA56705EAED4}"/>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Variation 2 — Sean O'Connor White</a:t>
            </a:r>
          </a:p>
        </p:txBody>
      </p:sp>
    </p:spTree>
    <p:extLst>
      <p:ext uri="{BB962C8B-B14F-4D97-AF65-F5344CB8AC3E}">
        <p14:creationId xmlns:p14="http://schemas.microsoft.com/office/powerpoint/2010/main" val="1406066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89C308-3FAE-43B0-7CAD-F79DCD434113}"/>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Variation 3 — Steven Outlaw</a:t>
            </a:r>
          </a:p>
        </p:txBody>
      </p:sp>
      <p:sp>
        <p:nvSpPr>
          <p:cNvPr id="4" name="Rectangle 1">
            <a:extLst>
              <a:ext uri="{FF2B5EF4-FFF2-40B4-BE49-F238E27FC236}">
                <a16:creationId xmlns:a16="http://schemas.microsoft.com/office/drawing/2014/main" id="{8D32B985-73BD-43EE-CE1F-8EE883673829}"/>
              </a:ext>
            </a:extLst>
          </p:cNvPr>
          <p:cNvSpPr>
            <a:spLocks noGrp="1" noChangeArrowheads="1"/>
          </p:cNvSpPr>
          <p:nvPr>
            <p:ph idx="1"/>
          </p:nvPr>
        </p:nvSpPr>
        <p:spPr bwMode="auto">
          <a:xfrm>
            <a:off x="720671" y="1885279"/>
            <a:ext cx="10428890"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a:ln>
                  <a:noFill/>
                </a:ln>
                <a:solidFill>
                  <a:srgbClr val="000000"/>
                </a:solidFill>
                <a:effectLst/>
                <a:latin typeface="Arial" panose="020B0604020202020204" pitchFamily="34" charset="0"/>
                <a:cs typeface="Arial" panose="020B0604020202020204" pitchFamily="34" charset="0"/>
              </a:rPr>
              <a:t>Parameters Changed</a:t>
            </a: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 Number of filters in the first convolutional layer (32 → 64)</a:t>
            </a:r>
            <a:endParaRPr kumimoji="0" lang="en-US" altLang="en-US" sz="1700" b="1"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a:ln>
                  <a:noFill/>
                </a:ln>
                <a:solidFill>
                  <a:srgbClr val="000000"/>
                </a:solidFill>
                <a:effectLst/>
                <a:latin typeface="Arial" panose="020B0604020202020204" pitchFamily="34" charset="0"/>
                <a:cs typeface="Arial" panose="020B0604020202020204" pitchFamily="34" charset="0"/>
              </a:rPr>
              <a:t>Hypothesis</a:t>
            </a: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 </a:t>
            </a:r>
            <a:b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b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Increasing the number of filters from 32 to 64 should improve the model's ability to identify important features in handwritten digits because more filters can learn a wider variety of patterns. This may result in slightly higher accuracy on the test data. However, the model will have more parameters, which may increase training time and require more computational resources.</a:t>
            </a:r>
            <a:endParaRPr kumimoji="0" lang="en-US" altLang="en-US" sz="1700" b="1"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a:ln>
                  <a:noFill/>
                </a:ln>
                <a:solidFill>
                  <a:srgbClr val="000000"/>
                </a:solidFill>
                <a:effectLst/>
                <a:latin typeface="Arial" panose="020B0604020202020204" pitchFamily="34" charset="0"/>
                <a:cs typeface="Arial" panose="020B0604020202020204" pitchFamily="34" charset="0"/>
              </a:rPr>
              <a:t>Test Results</a:t>
            </a: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 </a:t>
            </a:r>
            <a:endParaRPr kumimoji="0" lang="en-US" altLang="en-US" sz="3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Training accuracy: 99.30%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Test accuracy: 99.01%</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Runtime: 2.67 min</a:t>
            </a:r>
            <a:endParaRPr kumimoji="0" lang="en-US" altLang="en-US" sz="3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a:ln>
                  <a:noFill/>
                </a:ln>
                <a:solidFill>
                  <a:srgbClr val="000000"/>
                </a:solidFill>
                <a:effectLst/>
                <a:latin typeface="Arial" panose="020B0604020202020204" pitchFamily="34" charset="0"/>
                <a:cs typeface="Arial" panose="020B0604020202020204" pitchFamily="34" charset="0"/>
              </a:rPr>
              <a:t>vs. Baseline</a:t>
            </a: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en-US" altLang="en-US" sz="300" b="0" i="0" u="none" strike="noStrike" cap="none" normalizeH="0" baseline="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Increased Training accuracy by 0.06 percentage points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Decreased Test accuracy by 0.10 percentage points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rgbClr val="000000"/>
                </a:solidFill>
                <a:effectLst/>
                <a:latin typeface="Arial" panose="020B0604020202020204" pitchFamily="34" charset="0"/>
                <a:cs typeface="Arial" panose="020B0604020202020204" pitchFamily="34" charset="0"/>
              </a:rPr>
              <a:t>Increased Runtime by 1.02 minutes</a:t>
            </a:r>
            <a:endParaRPr kumimoji="0" lang="en-US" altLang="en-US" sz="3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550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29F8AF-158B-0D36-BD21-1F115A9D154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Variation 4 — Shubham Raj</a:t>
            </a:r>
          </a:p>
        </p:txBody>
      </p:sp>
      <p:sp>
        <p:nvSpPr>
          <p:cNvPr id="9" name="Rectangle 4">
            <a:extLst>
              <a:ext uri="{FF2B5EF4-FFF2-40B4-BE49-F238E27FC236}">
                <a16:creationId xmlns:a16="http://schemas.microsoft.com/office/drawing/2014/main" id="{AA62B169-7C0A-53E8-3335-EA1916D9258D}"/>
              </a:ext>
            </a:extLst>
          </p:cNvPr>
          <p:cNvSpPr>
            <a:spLocks noGrp="1" noChangeArrowheads="1"/>
          </p:cNvSpPr>
          <p:nvPr>
            <p:ph idx="1"/>
          </p:nvPr>
        </p:nvSpPr>
        <p:spPr bwMode="auto">
          <a:xfrm>
            <a:off x="838199" y="1562165"/>
            <a:ext cx="11041251" cy="4878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Parameters Changed</a:t>
            </a:r>
            <a:r>
              <a:rPr kumimoji="0" lang="en-US" altLang="en-US" sz="17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3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Epochs: 5 to 10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Validation Split: 0.1 to 0.2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layers.Conv2D(64, (3, 3), activation='</a:t>
            </a:r>
            <a:r>
              <a:rPr kumimoji="0" lang="en-US" altLang="en-US" sz="13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relu</a:t>
            </a: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to layers.Conv2D(64, (2, 2), activation='</a:t>
            </a:r>
            <a:r>
              <a:rPr kumimoji="0" lang="en-US" altLang="en-US" sz="13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relu</a:t>
            </a: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layers.MaxPooling2D((2, 2)) to layers.MaxPooling2D((1, 1)),</a:t>
            </a:r>
            <a:endParaRPr kumimoji="0" lang="en-US" altLang="en-US" sz="3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Hypothesis</a:t>
            </a:r>
            <a:r>
              <a:rPr kumimoji="0" lang="en-US" altLang="en-US" sz="2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5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Although the epochs were increased; validation split was increased, </a:t>
            </a:r>
            <a:r>
              <a:rPr kumimoji="0" lang="en-US" altLang="en-US" sz="15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maxPooling</a:t>
            </a:r>
            <a:r>
              <a:rPr kumimoji="0" lang="en-US" altLang="en-US" sz="15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and Conv2D were reduced. I think the accuracy should be similar to what we would be having in 5 epochs, maybe slightly higher.</a:t>
            </a:r>
            <a:endParaRPr kumimoji="0" lang="en-US" altLang="en-US" sz="2100" b="1"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Epoch</a:t>
            </a:r>
            <a:r>
              <a:rPr kumimoji="0" lang="en-US" altLang="en-US"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 5</a:t>
            </a:r>
            <a:endParaRPr kumimoji="0" lang="en-US" altLang="en-US" sz="3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Training accuracy = 0.9876</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Training Loss = 0.0423</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Test accuracy = 0.9891</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Test Loss = 0.0335</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Training Run Time: 38 seconds, Evaluation: 1 second</a:t>
            </a:r>
            <a:endParaRPr kumimoji="0" lang="en-US" altLang="en-US" sz="3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Epoch</a:t>
            </a:r>
            <a:r>
              <a:rPr kumimoji="0" lang="en-US" altLang="en-US"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 10</a:t>
            </a:r>
            <a:endParaRPr kumimoji="0" lang="en-US" altLang="en-US" sz="3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Training accuracy = 0.9893</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Training Loss = 0.0486</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Test accuracy = 0.9902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Test Loss = 0.0435</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Training Run Time: 70 seconds, Evaluation: 1 second</a:t>
            </a:r>
            <a:endParaRPr kumimoji="0" lang="en-US" altLang="en-US" sz="3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9687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F3C1D7-4862-F4A5-4D04-2E0A7894301B}"/>
              </a:ext>
            </a:extLst>
          </p:cNvPr>
          <p:cNvSpPr>
            <a:spLocks noGrp="1"/>
          </p:cNvSpPr>
          <p:nvPr>
            <p:ph type="title"/>
          </p:nvPr>
        </p:nvSpPr>
        <p:spPr>
          <a:xfrm>
            <a:off x="699713" y="248038"/>
            <a:ext cx="9859201" cy="1159200"/>
          </a:xfrm>
        </p:spPr>
        <p:txBody>
          <a:bodyPr vert="horz" lIns="91440" tIns="45720" rIns="91440" bIns="45720" rtlCol="0" anchor="ctr">
            <a:normAutofit/>
          </a:bodyPr>
          <a:lstStyle/>
          <a:p>
            <a:r>
              <a:rPr lang="en-US" sz="3700" kern="1200" dirty="0">
                <a:solidFill>
                  <a:srgbClr val="FFFFFF"/>
                </a:solidFill>
                <a:latin typeface="+mj-lt"/>
                <a:ea typeface="+mj-ea"/>
                <a:cs typeface="+mj-cs"/>
              </a:rPr>
              <a:t>Summary — Results Across All Versions</a:t>
            </a:r>
          </a:p>
        </p:txBody>
      </p:sp>
      <p:graphicFrame>
        <p:nvGraphicFramePr>
          <p:cNvPr id="4" name="Table 3">
            <a:extLst>
              <a:ext uri="{FF2B5EF4-FFF2-40B4-BE49-F238E27FC236}">
                <a16:creationId xmlns:a16="http://schemas.microsoft.com/office/drawing/2014/main" id="{0B22682E-4911-40E9-AD8C-58DE89B4FDC9}"/>
              </a:ext>
            </a:extLst>
          </p:cNvPr>
          <p:cNvGraphicFramePr>
            <a:graphicFrameLocks noGrp="1"/>
          </p:cNvGraphicFramePr>
          <p:nvPr>
            <p:extLst>
              <p:ext uri="{D42A27DB-BD31-4B8C-83A1-F6EECF244321}">
                <p14:modId xmlns:p14="http://schemas.microsoft.com/office/powerpoint/2010/main" val="1269566123"/>
              </p:ext>
            </p:extLst>
          </p:nvPr>
        </p:nvGraphicFramePr>
        <p:xfrm>
          <a:off x="328505" y="1923844"/>
          <a:ext cx="11581554" cy="4584634"/>
        </p:xfrm>
        <a:graphic>
          <a:graphicData uri="http://schemas.openxmlformats.org/drawingml/2006/table">
            <a:tbl>
              <a:tblPr firstRow="1" bandRow="1">
                <a:tableStyleId>{8EC20E35-A176-4012-BC5E-935CFFF8708E}</a:tableStyleId>
              </a:tblPr>
              <a:tblGrid>
                <a:gridCol w="2864146">
                  <a:extLst>
                    <a:ext uri="{9D8B030D-6E8A-4147-A177-3AD203B41FA5}">
                      <a16:colId xmlns:a16="http://schemas.microsoft.com/office/drawing/2014/main" val="1743788696"/>
                    </a:ext>
                  </a:extLst>
                </a:gridCol>
                <a:gridCol w="2637981">
                  <a:extLst>
                    <a:ext uri="{9D8B030D-6E8A-4147-A177-3AD203B41FA5}">
                      <a16:colId xmlns:a16="http://schemas.microsoft.com/office/drawing/2014/main" val="1209332203"/>
                    </a:ext>
                  </a:extLst>
                </a:gridCol>
                <a:gridCol w="1931857">
                  <a:extLst>
                    <a:ext uri="{9D8B030D-6E8A-4147-A177-3AD203B41FA5}">
                      <a16:colId xmlns:a16="http://schemas.microsoft.com/office/drawing/2014/main" val="395178554"/>
                    </a:ext>
                  </a:extLst>
                </a:gridCol>
                <a:gridCol w="1789926">
                  <a:extLst>
                    <a:ext uri="{9D8B030D-6E8A-4147-A177-3AD203B41FA5}">
                      <a16:colId xmlns:a16="http://schemas.microsoft.com/office/drawing/2014/main" val="3173557866"/>
                    </a:ext>
                  </a:extLst>
                </a:gridCol>
                <a:gridCol w="2357644">
                  <a:extLst>
                    <a:ext uri="{9D8B030D-6E8A-4147-A177-3AD203B41FA5}">
                      <a16:colId xmlns:a16="http://schemas.microsoft.com/office/drawing/2014/main" val="2442162201"/>
                    </a:ext>
                  </a:extLst>
                </a:gridCol>
              </a:tblGrid>
              <a:tr h="1074322">
                <a:tc>
                  <a:txBody>
                    <a:bodyPr/>
                    <a:lstStyle/>
                    <a:p>
                      <a:pPr algn="ctr"/>
                      <a:r>
                        <a:rPr lang="en-US" sz="2100" b="1" dirty="0">
                          <a:solidFill>
                            <a:srgbClr val="FFFFFF"/>
                          </a:solidFill>
                        </a:rPr>
                        <a:t>Owner</a:t>
                      </a:r>
                    </a:p>
                  </a:txBody>
                  <a:tcPr marL="132194" marR="132194" marT="66097" marB="66097" anchor="ctr"/>
                </a:tc>
                <a:tc>
                  <a:txBody>
                    <a:bodyPr/>
                    <a:lstStyle/>
                    <a:p>
                      <a:pPr algn="ctr"/>
                      <a:r>
                        <a:rPr lang="en-US" sz="2100" b="1" dirty="0">
                          <a:solidFill>
                            <a:srgbClr val="FFFFFF"/>
                          </a:solidFill>
                        </a:rPr>
                        <a:t>Key Parameter Change</a:t>
                      </a:r>
                    </a:p>
                  </a:txBody>
                  <a:tcPr marL="132194" marR="132194" marT="66097" marB="66097" anchor="ctr"/>
                </a:tc>
                <a:tc>
                  <a:txBody>
                    <a:bodyPr/>
                    <a:lstStyle/>
                    <a:p>
                      <a:pPr algn="ctr"/>
                      <a:r>
                        <a:rPr lang="en-US" sz="2100" b="1">
                          <a:solidFill>
                            <a:srgbClr val="FFFFFF"/>
                          </a:solidFill>
                        </a:rPr>
                        <a:t>Test Acc.</a:t>
                      </a:r>
                    </a:p>
                  </a:txBody>
                  <a:tcPr marL="132194" marR="132194" marT="66097" marB="66097" anchor="ctr"/>
                </a:tc>
                <a:tc>
                  <a:txBody>
                    <a:bodyPr/>
                    <a:lstStyle/>
                    <a:p>
                      <a:pPr algn="ctr"/>
                      <a:r>
                        <a:rPr lang="en-US" sz="2100" b="1">
                          <a:solidFill>
                            <a:srgbClr val="FFFFFF"/>
                          </a:solidFill>
                        </a:rPr>
                        <a:t>Runtime</a:t>
                      </a:r>
                    </a:p>
                  </a:txBody>
                  <a:tcPr marL="132194" marR="132194" marT="66097" marB="66097" anchor="ctr"/>
                </a:tc>
                <a:tc>
                  <a:txBody>
                    <a:bodyPr/>
                    <a:lstStyle/>
                    <a:p>
                      <a:pPr algn="ctr"/>
                      <a:r>
                        <a:rPr lang="en-US" sz="2100" b="1" dirty="0">
                          <a:solidFill>
                            <a:srgbClr val="FFFFFF"/>
                          </a:solidFill>
                        </a:rPr>
                        <a:t>vs. Baseline</a:t>
                      </a:r>
                    </a:p>
                  </a:txBody>
                  <a:tcPr marL="132194" marR="132194" marT="66097" marB="66097" anchor="ctr"/>
                </a:tc>
                <a:extLst>
                  <a:ext uri="{0D108BD9-81ED-4DB2-BD59-A6C34878D82A}">
                    <a16:rowId xmlns:a16="http://schemas.microsoft.com/office/drawing/2014/main" val="3964436329"/>
                  </a:ext>
                </a:extLst>
              </a:tr>
              <a:tr h="1074322">
                <a:tc>
                  <a:txBody>
                    <a:bodyPr/>
                    <a:lstStyle/>
                    <a:p>
                      <a:pPr algn="l"/>
                      <a:r>
                        <a:rPr lang="en-US" sz="2100" dirty="0"/>
                        <a:t>Jin Hai Ni</a:t>
                      </a:r>
                    </a:p>
                  </a:txBody>
                  <a:tcPr marL="132194" marR="132194" marT="66097" marB="66097" anchor="ctr"/>
                </a:tc>
                <a:tc>
                  <a:txBody>
                    <a:bodyPr/>
                    <a:lstStyle/>
                    <a:p>
                      <a:pPr algn="l"/>
                      <a:r>
                        <a:rPr lang="en-US" sz="2100" dirty="0"/>
                        <a:t>Epoch from 5 top 10</a:t>
                      </a:r>
                    </a:p>
                  </a:txBody>
                  <a:tcPr marL="132194" marR="132194" marT="66097" marB="66097" anchor="ctr"/>
                </a:tc>
                <a:tc>
                  <a:txBody>
                    <a:bodyPr/>
                    <a:lstStyle/>
                    <a:p>
                      <a:pPr algn="ctr"/>
                      <a:r>
                        <a:rPr lang="en-US" sz="2100" dirty="0"/>
                        <a:t>+ 0.32%</a:t>
                      </a:r>
                    </a:p>
                  </a:txBody>
                  <a:tcPr marL="132194" marR="132194" marT="66097" marB="66097" anchor="ctr"/>
                </a:tc>
                <a:tc>
                  <a:txBody>
                    <a:bodyPr/>
                    <a:lstStyle/>
                    <a:p>
                      <a:pPr algn="ctr"/>
                      <a:r>
                        <a:rPr lang="en-US" sz="2100" dirty="0"/>
                        <a:t>+64 Sec</a:t>
                      </a:r>
                    </a:p>
                  </a:txBody>
                  <a:tcPr marL="132194" marR="132194" marT="66097" marB="66097" anchor="ctr"/>
                </a:tc>
                <a:tc>
                  <a:txBody>
                    <a:bodyPr/>
                    <a:lstStyle/>
                    <a:p>
                      <a:pPr algn="ctr"/>
                      <a:r>
                        <a:rPr lang="en-US" sz="2100" dirty="0"/>
                        <a:t>Increased Test Acc. &amp; time </a:t>
                      </a:r>
                    </a:p>
                  </a:txBody>
                  <a:tcPr marL="132194" marR="132194" marT="66097" marB="66097" anchor="ctr"/>
                </a:tc>
                <a:extLst>
                  <a:ext uri="{0D108BD9-81ED-4DB2-BD59-A6C34878D82A}">
                    <a16:rowId xmlns:a16="http://schemas.microsoft.com/office/drawing/2014/main" val="3551180327"/>
                  </a:ext>
                </a:extLst>
              </a:tr>
              <a:tr h="1074322">
                <a:tc>
                  <a:txBody>
                    <a:bodyPr/>
                    <a:lstStyle/>
                    <a:p>
                      <a:pPr algn="l"/>
                      <a:r>
                        <a:rPr lang="en-US" sz="2100" dirty="0"/>
                        <a:t>Sean O'Connor White</a:t>
                      </a:r>
                    </a:p>
                  </a:txBody>
                  <a:tcPr marL="132194" marR="132194" marT="66097" marB="66097" anchor="ctr"/>
                </a:tc>
                <a:tc>
                  <a:txBody>
                    <a:bodyPr/>
                    <a:lstStyle/>
                    <a:p>
                      <a:pPr algn="l"/>
                      <a:endParaRPr lang="en-US" sz="2100" dirty="0"/>
                    </a:p>
                  </a:txBody>
                  <a:tcPr marL="132194" marR="132194" marT="66097" marB="66097" anchor="ctr"/>
                </a:tc>
                <a:tc>
                  <a:txBody>
                    <a:bodyPr/>
                    <a:lstStyle/>
                    <a:p>
                      <a:pPr algn="ctr"/>
                      <a:endParaRPr lang="en-US" sz="2100" dirty="0"/>
                    </a:p>
                  </a:txBody>
                  <a:tcPr marL="132194" marR="132194" marT="66097" marB="66097" anchor="ctr"/>
                </a:tc>
                <a:tc>
                  <a:txBody>
                    <a:bodyPr/>
                    <a:lstStyle/>
                    <a:p>
                      <a:pPr algn="ctr"/>
                      <a:endParaRPr lang="en-US" sz="2100" dirty="0"/>
                    </a:p>
                  </a:txBody>
                  <a:tcPr marL="132194" marR="132194" marT="66097" marB="66097" anchor="ctr"/>
                </a:tc>
                <a:tc>
                  <a:txBody>
                    <a:bodyPr/>
                    <a:lstStyle/>
                    <a:p>
                      <a:pPr algn="ctr"/>
                      <a:endParaRPr lang="en-US" sz="2100" dirty="0"/>
                    </a:p>
                  </a:txBody>
                  <a:tcPr marL="132194" marR="132194" marT="66097" marB="66097" anchor="ctr"/>
                </a:tc>
                <a:extLst>
                  <a:ext uri="{0D108BD9-81ED-4DB2-BD59-A6C34878D82A}">
                    <a16:rowId xmlns:a16="http://schemas.microsoft.com/office/drawing/2014/main" val="455979174"/>
                  </a:ext>
                </a:extLst>
              </a:tr>
              <a:tr h="655569">
                <a:tc>
                  <a:txBody>
                    <a:bodyPr/>
                    <a:lstStyle/>
                    <a:p>
                      <a:pPr algn="l"/>
                      <a:r>
                        <a:rPr lang="en-US" sz="2100"/>
                        <a:t>Steven Outlaw</a:t>
                      </a:r>
                    </a:p>
                  </a:txBody>
                  <a:tcPr marL="132194" marR="132194" marT="66097" marB="66097" anchor="ctr"/>
                </a:tc>
                <a:tc>
                  <a:txBody>
                    <a:bodyPr/>
                    <a:lstStyle/>
                    <a:p>
                      <a:pPr algn="l"/>
                      <a:r>
                        <a:rPr lang="en-US" sz="1800" b="0" i="0" u="none" strike="noStrike" kern="1200" dirty="0">
                          <a:solidFill>
                            <a:schemeClr val="dk1"/>
                          </a:solidFill>
                          <a:effectLst/>
                          <a:latin typeface="+mn-lt"/>
                          <a:ea typeface="+mn-ea"/>
                          <a:cs typeface="+mn-cs"/>
                        </a:rPr>
                        <a:t>Increased number of filters</a:t>
                      </a:r>
                      <a:endParaRPr lang="en-US" sz="2100" dirty="0"/>
                    </a:p>
                  </a:txBody>
                  <a:tcPr marL="132194" marR="132194" marT="66097" marB="66097" anchor="ctr"/>
                </a:tc>
                <a:tc>
                  <a:txBody>
                    <a:bodyPr/>
                    <a:lstStyle/>
                    <a:p>
                      <a:pPr algn="ctr"/>
                      <a:r>
                        <a:rPr lang="en-US" sz="1800" b="0" i="0" u="none" strike="noStrike" kern="1200" dirty="0">
                          <a:solidFill>
                            <a:schemeClr val="dk1"/>
                          </a:solidFill>
                          <a:effectLst/>
                          <a:latin typeface="+mn-lt"/>
                          <a:ea typeface="+mn-ea"/>
                          <a:cs typeface="+mn-cs"/>
                        </a:rPr>
                        <a:t>- 0.10%</a:t>
                      </a:r>
                      <a:endParaRPr lang="en-US" sz="2100" dirty="0"/>
                    </a:p>
                  </a:txBody>
                  <a:tcPr marL="132194" marR="132194" marT="66097" marB="66097" anchor="ctr"/>
                </a:tc>
                <a:tc>
                  <a:txBody>
                    <a:bodyPr/>
                    <a:lstStyle/>
                    <a:p>
                      <a:pPr algn="ctr"/>
                      <a:r>
                        <a:rPr lang="en-US" sz="1800" b="0" i="0" u="none" strike="noStrike" kern="1200" dirty="0">
                          <a:solidFill>
                            <a:schemeClr val="dk1"/>
                          </a:solidFill>
                          <a:effectLst/>
                          <a:latin typeface="+mn-lt"/>
                          <a:ea typeface="+mn-ea"/>
                          <a:cs typeface="+mn-cs"/>
                        </a:rPr>
                        <a:t>+ 1.02 min</a:t>
                      </a:r>
                      <a:endParaRPr lang="en-US" sz="2100" dirty="0"/>
                    </a:p>
                  </a:txBody>
                  <a:tcPr marL="132194" marR="132194" marT="66097" marB="66097" anchor="ctr"/>
                </a:tc>
                <a:tc>
                  <a:txBody>
                    <a:bodyPr/>
                    <a:lstStyle/>
                    <a:p>
                      <a:pPr algn="ctr"/>
                      <a:r>
                        <a:rPr lang="en-US" sz="1800" b="0" i="0" u="none" strike="noStrike" kern="1200" dirty="0">
                          <a:solidFill>
                            <a:schemeClr val="dk1"/>
                          </a:solidFill>
                          <a:effectLst/>
                          <a:latin typeface="+mn-lt"/>
                          <a:ea typeface="+mn-ea"/>
                          <a:cs typeface="+mn-cs"/>
                        </a:rPr>
                        <a:t>Increased number of filters</a:t>
                      </a:r>
                      <a:endParaRPr lang="en-US" sz="2100" dirty="0"/>
                    </a:p>
                  </a:txBody>
                  <a:tcPr marL="132194" marR="132194" marT="66097" marB="66097" anchor="ctr"/>
                </a:tc>
                <a:extLst>
                  <a:ext uri="{0D108BD9-81ED-4DB2-BD59-A6C34878D82A}">
                    <a16:rowId xmlns:a16="http://schemas.microsoft.com/office/drawing/2014/main" val="2892282653"/>
                  </a:ext>
                </a:extLst>
              </a:tr>
              <a:tr h="655569">
                <a:tc>
                  <a:txBody>
                    <a:bodyPr/>
                    <a:lstStyle/>
                    <a:p>
                      <a:pPr algn="l"/>
                      <a:r>
                        <a:rPr lang="en-US" sz="2100" dirty="0"/>
                        <a:t>Shubham Raj</a:t>
                      </a:r>
                    </a:p>
                  </a:txBody>
                  <a:tcPr marL="132194" marR="132194" marT="66097" marB="66097" anchor="ctr"/>
                </a:tc>
                <a:tc>
                  <a:txBody>
                    <a:bodyPr/>
                    <a:lstStyle/>
                    <a:p>
                      <a:pPr algn="l"/>
                      <a:r>
                        <a:rPr lang="en-US" sz="1800" b="0" i="0" u="none" strike="noStrike" kern="1200" dirty="0">
                          <a:solidFill>
                            <a:schemeClr val="dk1"/>
                          </a:solidFill>
                          <a:effectLst/>
                          <a:latin typeface="+mn-lt"/>
                          <a:ea typeface="+mn-ea"/>
                          <a:cs typeface="+mn-cs"/>
                        </a:rPr>
                        <a:t>Epoch: 5 to 10</a:t>
                      </a:r>
                      <a:endParaRPr lang="en-US" sz="2100" dirty="0"/>
                    </a:p>
                  </a:txBody>
                  <a:tcPr marL="132194" marR="132194" marT="66097" marB="66097" anchor="ctr"/>
                </a:tc>
                <a:tc>
                  <a:txBody>
                    <a:bodyPr/>
                    <a:lstStyle/>
                    <a:p>
                      <a:pPr algn="ctr"/>
                      <a:r>
                        <a:rPr lang="en-US" sz="1800" b="0" i="0" u="none" strike="noStrike" kern="1200" dirty="0">
                          <a:solidFill>
                            <a:schemeClr val="dk1"/>
                          </a:solidFill>
                          <a:effectLst/>
                          <a:latin typeface="+mn-lt"/>
                          <a:ea typeface="+mn-ea"/>
                          <a:cs typeface="+mn-cs"/>
                        </a:rPr>
                        <a:t>0.0011 (0.11%)</a:t>
                      </a:r>
                      <a:endParaRPr lang="en-US" sz="2100" dirty="0"/>
                    </a:p>
                  </a:txBody>
                  <a:tcPr marL="132194" marR="132194" marT="66097" marB="66097" anchor="ctr"/>
                </a:tc>
                <a:tc>
                  <a:txBody>
                    <a:bodyPr/>
                    <a:lstStyle/>
                    <a:p>
                      <a:pPr algn="ctr"/>
                      <a:r>
                        <a:rPr lang="en-US" sz="1800" b="0" i="0" u="none" strike="noStrike" kern="1200" dirty="0">
                          <a:solidFill>
                            <a:schemeClr val="dk1"/>
                          </a:solidFill>
                          <a:effectLst/>
                          <a:latin typeface="+mn-lt"/>
                          <a:ea typeface="+mn-ea"/>
                          <a:cs typeface="+mn-cs"/>
                        </a:rPr>
                        <a:t>+30 sec</a:t>
                      </a:r>
                      <a:endParaRPr lang="en-US" sz="2100" dirty="0"/>
                    </a:p>
                  </a:txBody>
                  <a:tcPr marL="132194" marR="132194" marT="66097" marB="66097" anchor="ctr"/>
                </a:tc>
                <a:tc>
                  <a:txBody>
                    <a:bodyPr/>
                    <a:lstStyle/>
                    <a:p>
                      <a:pPr algn="ctr"/>
                      <a:r>
                        <a:rPr lang="en-US" sz="1800" b="0" i="0" u="none" strike="noStrike" kern="1200" dirty="0">
                          <a:solidFill>
                            <a:schemeClr val="dk1"/>
                          </a:solidFill>
                          <a:effectLst/>
                          <a:latin typeface="+mn-lt"/>
                          <a:ea typeface="+mn-ea"/>
                          <a:cs typeface="+mn-cs"/>
                        </a:rPr>
                        <a:t>Increased Test Acc. &amp; time</a:t>
                      </a:r>
                      <a:endParaRPr lang="en-US" sz="2100" dirty="0"/>
                    </a:p>
                  </a:txBody>
                  <a:tcPr marL="132194" marR="132194" marT="66097" marB="66097" anchor="ctr"/>
                </a:tc>
                <a:extLst>
                  <a:ext uri="{0D108BD9-81ED-4DB2-BD59-A6C34878D82A}">
                    <a16:rowId xmlns:a16="http://schemas.microsoft.com/office/drawing/2014/main" val="3774534668"/>
                  </a:ext>
                </a:extLst>
              </a:tr>
            </a:tbl>
          </a:graphicData>
        </a:graphic>
      </p:graphicFrame>
    </p:spTree>
    <p:extLst>
      <p:ext uri="{BB962C8B-B14F-4D97-AF65-F5344CB8AC3E}">
        <p14:creationId xmlns:p14="http://schemas.microsoft.com/office/powerpoint/2010/main" val="1406488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23"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50A09D5-ED3F-4D3C-B3F2-6AB80D168096}">
  <we:reference id="f5f369e5-aa35-49d7-ad7b-638152ddb008" version="1.0.0.1" store="EXCatalog" storeType="EXCatalog"/>
  <we:alternateReferences>
    <we:reference id="WA200010001" version="1.0.0.1" store="en-US" storeType="OMEX"/>
  </we:alternateReferences>
  <we:properties>
    <we:property name="claude.fileId" value="&quot;43fc15a1-98cb-4f77-82e9-72b228e7615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47</TotalTime>
  <Words>662</Words>
  <Application>Microsoft Office PowerPoint</Application>
  <PresentationFormat>Widescreen</PresentationFormat>
  <Paragraphs>90</Paragraphs>
  <Slides>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Aptos</vt:lpstr>
      <vt:lpstr>Aptos Display</vt:lpstr>
      <vt:lpstr>Arial</vt:lpstr>
      <vt:lpstr>Consolas</vt:lpstr>
      <vt:lpstr>Office Theme</vt:lpstr>
      <vt:lpstr>Office Theme</vt:lpstr>
      <vt:lpstr>Group 7 –  Unit 9 Assignment</vt:lpstr>
      <vt:lpstr>Baseline CNN Model</vt:lpstr>
      <vt:lpstr>Variation 1 — Jin Hai Ni</vt:lpstr>
      <vt:lpstr>Variation 2 — Sean O'Connor White</vt:lpstr>
      <vt:lpstr>Variation 3 — Steven Outlaw</vt:lpstr>
      <vt:lpstr>Variation 4 — Shubham Raj</vt:lpstr>
      <vt:lpstr>Summary — Results Across All Versions</vt:lpstr>
    </vt:vector>
  </TitlesOfParts>
  <Company>Eli Lilly and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Tyler Jin Ni</dc:creator>
  <cp:lastModifiedBy>Tyler Jin Ni</cp:lastModifiedBy>
  <cp:revision>2</cp:revision>
  <dcterms:created xsi:type="dcterms:W3CDTF">2026-06-01T03:53:21Z</dcterms:created>
  <dcterms:modified xsi:type="dcterms:W3CDTF">2026-06-03T01:52:54Z</dcterms:modified>
</cp:coreProperties>
</file>