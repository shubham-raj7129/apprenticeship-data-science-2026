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9"/>
  </p:normalViewPr>
  <p:slideViewPr>
    <p:cSldViewPr snapToGrid="0" snapToObjects="1">
      <p:cViewPr varScale="1">
        <p:scale>
          <a:sx n="149" d="100"/>
          <a:sy n="149" d="100"/>
        </p:scale>
        <p:origin x="192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FB53B"/>
                </a:solidFill>
              </a:rPr>
              <a:t>IN403 – Deep Learning &amp;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Unit 1 — Introduction to Deep Learning and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B53B"/>
                </a:solidFill>
              </a:rPr>
              <a:t>Shubham Raj  |  Purdue Global  |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What This Unit is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Introduction to Deep Learning and Neural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This unit is pretty foundational — it covers what neural networks actually are, how they're built, and why deep learning has become such a big deal. The reading and the lab both tie directly into each other, which made it a lot easier to understand the theory once I started coding.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097280"/>
            <a:ext cx="347472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143000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0000"/>
                </a:solidFill>
              </a:rPr>
              <a:t>By the end of this unit I </a:t>
            </a:r>
            <a:r>
              <a:rPr lang="en-US" sz="1300" b="1" dirty="0">
                <a:solidFill>
                  <a:srgbClr val="000000"/>
                </a:solidFill>
              </a:rPr>
              <a:t>was </a:t>
            </a:r>
            <a:r>
              <a:rPr sz="1300" b="1" i="0" dirty="0">
                <a:solidFill>
                  <a:srgbClr val="000000"/>
                </a:solidFill>
              </a:rPr>
              <a:t>able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819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00000"/>
                </a:solidFill>
              </a:rPr>
              <a:t>Report on deep learning algorithms.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00000"/>
                </a:solidFill>
              </a:rPr>
              <a:t>Describe how neural networks are structured and trained.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3154680"/>
            <a:ext cx="3474720" cy="1828800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3200400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000000"/>
                </a:solidFill>
              </a:rPr>
              <a:t>Unit</a:t>
            </a:r>
            <a:r>
              <a:rPr sz="1300" b="1" i="0" dirty="0">
                <a:solidFill>
                  <a:srgbClr val="000000"/>
                </a:solidFill>
              </a:rPr>
              <a:t> Outcomes: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611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IN403-1: Build deep neural networks for IT applications.
GEL-1.02: Write clearly in Standard English.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Required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main text is Deep Learning with Python (3rd ed.) by Watson &amp; Chollet — access it through the Library under Academic Tools → Required Readings.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000000"/>
                </a:solidFill>
              </a:rPr>
              <a:t>Chapter 1 — "What is Deep Learning?"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000000"/>
                </a:solidFill>
              </a:rPr>
              <a:t>Chapter 2 — "The Mathematical Building Blocks of Neural Networks"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Web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PyTorch Basics Tutorial
https://pytorch.org/tutorials/beginner/basics/intro.html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What the reading covers: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The three major characteristics of neural networks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How neural nets handle linear regression, logistic regression, and backpropagation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What deep learning actually is — and how it differs from regular ML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Common deep learning algorithms and where they get used in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FB53B"/>
                </a:solidFill>
              </a:rPr>
              <a:t>AI vs ML vs Deep Learning — How They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I kept seeing these three terms used interchangeably before this course. They're not the same thing — they're nested. Deep learning is a specific type of machine learning, which itself is a subset of AI.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4572000" cy="4572000"/>
          </a:xfrm>
          <a:prstGeom prst="ellipse">
            <a:avLst/>
          </a:prstGeom>
          <a:solidFill>
            <a:srgbClr val="B0B0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17320" y="2331720"/>
            <a:ext cx="3017520" cy="3017520"/>
          </a:xfrm>
          <a:prstGeom prst="ellipse">
            <a:avLst/>
          </a:prstGeom>
          <a:solidFill>
            <a:srgbClr val="808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94560" y="3108960"/>
            <a:ext cx="1463040" cy="1463040"/>
          </a:xfrm>
          <a:prstGeom prst="ellipse">
            <a:avLst/>
          </a:prstGeom>
          <a:solidFill>
            <a:srgbClr val="5050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→ 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→ 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</a:rPr>
              <a:t>→  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The way I think about it: AI is the broad goal of making machines intelligent. ML is one approach to doing that. Deep learning is a specific ML technique that uses multi-layer neural networks — and it's why AI has advanced so fast recently.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Why Neural Networks?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stat that made this concrete for me: image recognition error sat above 40% in 2010. Four years later, after deep networks became mainstream, it was under 7%. To put that in perspective, the human error rate on the same benchmark is around 5%. That's a remarkable jump — and it happened almost entirely because of GPU-powered deep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A few things that make them different from regular models: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They learn representations automatically — no manual feature engineering needed.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They don't just recognize a label; they figure out what features define it.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Because of that, they can also work for unsupervised learning — grouping similar inputs together without anyone having to label them first.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They scale well: the more data you give them, the better they tend to 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</a:rPr>
              <a:t>That said — more power comes with more complexity. For a first deployment in a setting like healthcare, there are real tradeoffs to consider.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Source: Zocca, V., Spacagna, G., Slater, D., &amp; Roelants, P. (2017). Python Deep Learning. Packt.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Parts of a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Neural networks are loosely modelled on how biological neurons work. It helped me to map each part to its biological counterpart before trying to code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Neuron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9164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basic building block — receives weighted inputs and decides whether to pass a signal forward.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Dendrites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42316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receiving branches — they collect incoming signals from neighbouring neurons.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Soma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1546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processing centre — adds up everything coming in. If the combined signal is strong enough, the neuron activates.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Axon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88620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output cable — once a neuron fires, the signal travels down the axon to the next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Synaptic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6177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gap between two neurons where signals are chemically scaled up or down — in an ANN this scaling factor becomes the learned weight.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Source: Zocca et al. (2017). Python Deep Learning. Packt Publishing.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Biological vs Artificial Neuron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textbook has a diagram I kept coming back to. Each biological component maps directly to something in the math behind the network: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5120640" cy="5943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Biological Neuron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737360"/>
            <a:ext cx="5120640" cy="5943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470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Artificial Neuron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59152"/>
            <a:ext cx="51206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Dendrites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359152"/>
            <a:ext cx="51206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Input Connections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95351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Soma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95351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Activation &amp; Activity 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47872"/>
            <a:ext cx="51206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Axons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547872"/>
            <a:ext cx="51206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657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Output Connections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4223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Synaptic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14223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Weights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The key idea: in an artificial net we model synaptic frequency as a numerical weight. The higher the weight, the stronger that input's influence on the neuron's output.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How Layers Are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Every neural network has the same basic structure — what changes is the number and size of the hidden layers in the middle.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5603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Receives the raw feature values — age, lead_days, insurance type, etc. No computation happens here; it just passes data forward.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560320" cy="86868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Hidden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803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Where the learning actually happens. Each layer applies weights and an activation function to transform the data into progressively more useful representations.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2560320" cy="868680"/>
          </a:xfrm>
          <a:prstGeom prst="rect">
            <a:avLst/>
          </a:prstGeom>
          <a:solidFill>
            <a:srgbClr val="D5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9959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Output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31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Turns the last hidden layer's output into a final answer. I used Sigmoid here so the result is a probability I can threshold — anything above 0.5 is flagged as a predicted no-show.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For our lab: the network is 24 inputs → 64 hidden (ReLU) → 32 hidden (ReLU) → 1 output (Sigmoid). That's three layers of transformation before we get a probability.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FB53B"/>
                </a:solidFill>
              </a:rPr>
              <a:t>Activation Functions — The Short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Without activation functions, stacking layers does nothing useful — the whole network would still just be one big linear equation. Activation functions introduce nonlinearity so the network can actually learn complex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Binary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8288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f(x) = 1 if x ≥ 0, else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Hard on/off. Useful conceptually but not great in practice — no gradient.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743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f(x) =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455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Output scales with input. Can't model nonlinearity — not useful in hidden layers.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Sigmoid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f(x) = 1 / (1 + e⁻ˣ)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599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Outputs 0–1. Good for binary classification output. Prone to vanishing gradients.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Tanh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572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f(x) = tanh(x)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74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Outputs −1 to 1. Zero-centred, which often helps training compared to sigmoid.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8288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f(x) = max(0, 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311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My go-to for hidden layers. Fast, simple, avoids vanishing gradients.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743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f(x) = x if x &gt; 0, else α(eˣ − 1)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455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Handles negatives better than ReLU. Can speed up convergence.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Softmax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f(xᵢ) = eˣⁱ / Σeˣʲ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599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Multi-class output. Forces all class probabilities to sum to exactly 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FB53B"/>
                </a:solidFill>
              </a:rPr>
              <a:t>Choosing the Right Activation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This was one of the things I had to look up a few times before it stuck. The short answer: match the activation to the job that layer is doing.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91640"/>
            <a:ext cx="2651760" cy="45720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764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Best Used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691640"/>
            <a:ext cx="4572000" cy="45720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7647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76272"/>
            <a:ext cx="265176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ReLU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176272"/>
            <a:ext cx="265176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Hidden layers in most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176272"/>
            <a:ext cx="457200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2677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Fast, nonlinear, no vanishing gradient 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98064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8895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Sigmoid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798064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28895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Final layer of a yes/no 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98064"/>
            <a:ext cx="4572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28895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Output is a clean probability score — exactly what you need for a yes/no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19856"/>
            <a:ext cx="265176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5112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Softmax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419856"/>
            <a:ext cx="265176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35112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Final layer when there are three or more classes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419856"/>
            <a:ext cx="457200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35112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Each class gets a score; they all add up to 100% so you can compare them directly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133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Tanh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41648"/>
            <a:ext cx="26517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37560" y="4133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Some hidden layers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041648"/>
            <a:ext cx="4572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52360" y="413308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Zero-centred; can outperform sigmoid in deeper nets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265176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Linear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663440"/>
            <a:ext cx="265176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3756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Final layer of a model predicting a number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663440"/>
            <a:ext cx="4572000" cy="585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52360" y="4754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Passes the raw sum through unchanged — useful when you're predicting a number, not a category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For the no-show lab: ReLU in both hidden layers to keep gradients healthy, Sigmoid on the output to get a clean 0–1 probability I could threshold.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GPU vs CPU — Why It Actually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Before this course I mostly thought of GPUs as gaming hardware. Turns out they're essential for deep learning because of one thing: parallelism. A CPU has a few powerful cores built for sequential tasks. A GPU has an enormous number of simpler cores — each one handles a tiny piece of a matrix multiplication simultaneously, which is almost exactly the kind of work training a neural network demands.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3840480" cy="45720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221992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148840"/>
            <a:ext cx="3657600" cy="45720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22219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148840"/>
            <a:ext cx="3657600" cy="45720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22219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384048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Number of 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633472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715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 small number of high-powered cores (roughly 4–64 on a modern chip)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633472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715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Thousands of lighter-weight cores designed for parallel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282696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Optimised for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200400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328269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General computation — anything that needs to happen in a specific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200400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28269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Matrix math and anything that can be split into thousands of identical sub-tasks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67328"/>
            <a:ext cx="384048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849624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DL training 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767328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38496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Works, but you'll be waiting a long time for each epoch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767328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38496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Dramatically faster — the same training job can drop from days to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34256"/>
            <a:ext cx="38404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416552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Data preprocessing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4334256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44165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Well-suited — CPUs handle varied, sequential preprocessing steps naturally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334256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60" y="44165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Rarely needed — the GPU is busy training, not wrangling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01184"/>
            <a:ext cx="384048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9834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Power &amp; 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901184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26280" y="4983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Ships with almost every machine; power draw is relatively modest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901184"/>
            <a:ext cx="36576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4983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Needs extra budget and power headroom — but the training time savings usually justify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</a:rPr>
              <a:t>How it actually runs: the CPU handles loading and cleaning, then hands a clean tensor batch to the GPU for the heavy lifting.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Where Deep Learning Gets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One of the things that surprised me going through the reading is how many everyday tools already run on deep learning — most of them invisibly.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Speech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Virtual assistants, live transcription — all powered by deep networks trained on audio.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4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Image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048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Object detection, face unlock, radiology AI, self-driving cars. Error rates now rival humans.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Natural Language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16382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Translation, sentiment analysis, summarization, chatbots — any written or spoken language task.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227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Recommendation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9227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Netflix queue, Spotify Discover Weekly, Amazon suggestions — learned from behaviour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81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6817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Flagging unusual financial transactions or network intrusions by learning what 'normal' looks like.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Healthcare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440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Our lab is a real example — predicting appointment no-shows to improve scheduling.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FB53B"/>
                </a:solidFill>
              </a:rPr>
              <a:t>Unit 1 Lab — Hospital No-Show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assignment is a guided Colab notebook. The goal is to compare a simple logistic regression baseline against a small PyTorch neural network — and then actually decide which one you'd deploy. I found the decision memo at the end more challenging than the code, which I think was the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Step-by-step: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1.  Load hospital_no_show_synthetic.csv and inspect it (5,000 rows, 14 features)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2.  Create two EDA plots — lead_days histogram + no-show rate by appointment type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3.  Build a preprocessing pipeline (StandardScaler + OneHotEncoder)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4.  Train logistic regression; report Accuracy, Precision, Recall, F1, ROC-AUC + confusion matrix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5.  Convert preprocessed arrays to PyTorch tensors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6.  Build a 2-hidden-layer network: 64 → ReLU → Dropout → 32 → ReLU → Dropout → Sigmoid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7.  Train 15 epochs with Adam; plot train vs validation loss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8.  Evaluate the neural net with the same 5 metrics; compare both models in a table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9.  Answer 4 reflection questions in markdown — these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Tools: Google Colab  ·  PyTorch  ·  scikit-learn  ·  pandas  ·  matplotlib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Discussion — Picking the First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The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You're advising a hospital that wants to reduce no-shows. You have five years of appointment data — age, appointment type, prior no-shows, lead time, location, weather. Leadership wants a recommendation for the first model to roll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Choose one and make the case (250–350 words):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Option A — Logistic Regression: straightforward, interpretable, you can explain every coefficient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Option B — Small Neural Network: more flexible, better at nonlinear patterns, harder to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Your post needs to address all four of these: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1.  Recommendation — state your choice and give a real reason, not just 'it performed better'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2.  Metric choice — precision or recall, and why that matters in this specific setting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3.  Risk control — one concrete thing you'd do if the model starts making bad predictions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00000"/>
                </a:solidFill>
              </a:rPr>
              <a:t>4.  Tradeoff — what does your chosen model give up, and why is that an acceptable trade for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Peer replies: challenge one assumption with a 'what if' and suggest one concrete improvement.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What I Took Away From Unit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DL ⊂ ML ⊂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23444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These three terms are not interchangeable. Deep learning is the most specific — a subset of ML that uses multi-layer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91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Neural nets mirror biology — loosely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39112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Dendrites → inputs, soma → summation, synaptic gap → weight. Understanding this made the math less abstract.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4378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Activation functions add the nonlinearity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43784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ReLU for hidden layers, Sigmoid for binary output, Softmax for multi-class. Without them, depth doesn't help.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4845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GPUs are essential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648456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parallelism advantage is real — training that would take days on a CPU can finish in hours on a GPU.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531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Interpretability matters as much as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53128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In healthcare especially, a 1–2% gain in ROC-AUC doesn't justify going black-box if no one can explain a flagged prediction.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B53B"/>
                </a:solidFill>
              </a:rPr>
              <a:t>Recall is the right metric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25780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A missed no-show (false negative) wastes a clinical slot. An extra reminder call (false positive) is just a minor inconvenience.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FB53B"/>
                </a:solidFill>
              </a:rPr>
              <a:t>Getting Set Up in Google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whole lab runs in Google Colab — no local Python install needed. Here's what I did before running a single cell: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43000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1. Open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74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Go to colab.research.google.com → File → Open notebook → Upload.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2. Upload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468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Select IN403_Unit1_NoShow_Lab_Template.ipynb from your downloads.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143000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3. Upload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Use the Files panel (folder icon on the left) → upload icon → select hospital_no_show_synthetic.csv. Keep the original filename — Colab's file path is case-sensitive and spaces will break pd.read_csv.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4. Check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Runtime → Change runtime type → confirm Python 3 is selected.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1143000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5. Run Setup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first code cell imports all libraries. Run it first to confirm everything loads without errors before moving 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Lesson learned the hard way: rename files before uploading, not after. Colab sees the path exactly as typed, so even a trailing space will throw a FileNotFoundError.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FB53B"/>
                </a:solidFill>
              </a:rPr>
              <a:t>Lab Walkthrough — EDA and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The dataset has 5,000 rows and 14 columns. The target column is no_show (1 = missed, 0 = attended). Class split: ~69% showed up, ~31% no-showed — moderately imbalanced, worth keeping in mind.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Two required plots: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lead_days histogram — most appointments are scheduled 0–20 days out, with a long tail beyond 30.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00000"/>
                </a:solidFill>
              </a:rPr>
              <a:t>No-show rate by appointment_type bar chart — some types (e.g. Telehealth) had noticeably higher no-show rates than others.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Preprocessing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10 continuous columns scaled to zero mean (StandardScaler)
3 text columns expanded via one-hot encoding (13 new columns)
ColumnTransformer glues both together → 24 input features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Important: fit only on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2491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Calling fit_transform on X_train and only transform on X_test prevents data leakage. I actually made this mistake once and had to rerun the whole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566160"/>
            <a:ext cx="5394960" cy="777240"/>
          </a:xfrm>
          <a:prstGeom prst="rect">
            <a:avLst/>
          </a:prstGeom>
          <a:solidFill>
            <a:srgbClr val="1E1E1E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3657600"/>
            <a:ext cx="5175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EC94E"/>
                </a:solidFill>
                <a:latin typeface="Courier New"/>
              </a:rPr>
              <a:t>preprocess.fit_transform(X_train)   # fit + apply</a:t>
            </a:r>
          </a:p>
          <a:p>
            <a:r>
              <a:rPr sz="1200">
                <a:solidFill>
                  <a:srgbClr val="4EC94E"/>
                </a:solidFill>
                <a:latin typeface="Courier New"/>
              </a:rPr>
              <a:t>preprocess.transform(X_test)         # apply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After preprocessing, convert sparse matrices to tensors: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1430000" cy="777240"/>
          </a:xfrm>
          <a:prstGeom prst="rect">
            <a:avLst/>
          </a:prstGeom>
          <a:solidFill>
            <a:srgbClr val="1E1E1E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937760"/>
            <a:ext cx="112105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EC94E"/>
                </a:solidFill>
                <a:latin typeface="Courier New"/>
              </a:rPr>
              <a:t>X_train_t = torch.tensor(X_train_p.toarray(), dtype=torch.float32)</a:t>
            </a:r>
          </a:p>
          <a:p>
            <a:r>
              <a:rPr sz="1200">
                <a:solidFill>
                  <a:srgbClr val="4EC94E"/>
                </a:solidFill>
                <a:latin typeface="Courier New"/>
              </a:rPr>
              <a:t>y_train_t = torch.tensor(y_train.values,       dtype=torch.float32).view(-1,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FB53B"/>
                </a:solidFill>
              </a:rPr>
              <a:t>Lab Walkthrough — Training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Logistic Regression —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57784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6362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6362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0.709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0253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0.573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86584"/>
            <a:ext cx="557784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4144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0.205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25496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803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0.302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64408"/>
            <a:ext cx="557784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3192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31927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0.694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Neural Network (15 epochs, Adam)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508760"/>
            <a:ext cx="53949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56362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56362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0.746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47672"/>
            <a:ext cx="5394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00253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0025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0.649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386584"/>
            <a:ext cx="53949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4414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44144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0.419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25496"/>
            <a:ext cx="5394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88036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88036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0.509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264408"/>
            <a:ext cx="53949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3192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ROC-AUC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31927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0.762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Loss Curve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062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Both train and validation loss decreased steadily across all 15 epochs with no sign of divergence — a clean training run. Val loss tracked just below train loss, which is actually fine; it means the model wasn't overfitting on this dataset size.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My read on the numbers: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681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The neural network improved across every metric, but the gap is modest — about 4 points of accuracy and 7 points of ROC-AUC. For a first deployment in healthcare, that delta doesn't automatically justify the added complexity.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88952" cy="73152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502920"/>
            <a:ext cx="64008" cy="59436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FB53B"/>
                </a:solidFill>
              </a:rPr>
              <a:t>The Decision Memo — What It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The memo is the real deliverable. It's about 300–500 words written to a non-technical hospital executive team. The code is just the evidence — the memo is the argument.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</a:rPr>
              <a:t>Four things the memo had to answer: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43000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1. Which model to deploy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67712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 recommended Logistic Regression. The performance gap was small enough that interpretability and auditability outweighed it — especially in a healthcare setting.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4436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2. What controls to add (if neural network)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17520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Weekly recall monitoring, threshold set to 0.40 instead of 0.50, quarterly fairness review by insurance type and clinic.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94176"/>
            <a:ext cx="1143000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76732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3. What you give up with 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767328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It won't capture nonlinear feature interactions as well. Acceptable for now — revisit after 6–12 months of production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43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1713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B53B"/>
                </a:solidFill>
              </a:rPr>
              <a:t>4. Which metric matters most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517136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Recall. A false negative (predicting a patient will show when they won't) wastes a slot and delays care for someone else. That's worse than an extra SMS.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Writing this was harder than building the network. Translating model metrics into plain language that a clinical director would actually act on took a few drafts.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FB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2934</Words>
  <Application>Microsoft Macintosh PowerPoint</Application>
  <PresentationFormat>Custom</PresentationFormat>
  <Paragraphs>256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Raj</cp:lastModifiedBy>
  <cp:revision>3</cp:revision>
  <dcterms:created xsi:type="dcterms:W3CDTF">2013-01-27T09:14:16Z</dcterms:created>
  <dcterms:modified xsi:type="dcterms:W3CDTF">2026-06-16T04:32:45Z</dcterms:modified>
  <cp:category/>
</cp:coreProperties>
</file>